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4E3B"/>
        </a:solidFill>
      </p:bgPr>
    </p:bg>
    <p:spTree>
      <p:nvGrpSpPr>
        <p:cNvPr id="1" name=""/>
        <p:cNvGrpSpPr/>
        <p:nvPr/>
      </p:nvGrpSpPr>
      <p:grpSpPr>
        <a:xfrm>
          <a:off x="0" y="0"/>
          <a:ext cx="0" cy="0"/>
          <a:chOff x="0" y="0"/>
          <a:chExt cx="0" cy="0"/>
        </a:xfrm>
      </p:grpSpPr>
      <p:sp>
        <p:nvSpPr>
          <p:cNvPr id="2" name="Shape 0"/>
          <p:cNvSpPr/>
          <p:nvPr/>
        </p:nvSpPr>
        <p:spPr>
          <a:xfrm>
            <a:off x="731520" y="731520"/>
            <a:ext cx="10698480" cy="5394960"/>
          </a:xfrm>
          <a:prstGeom prst="roundRect">
            <a:avLst>
              <a:gd name="adj" fmla="val 3390"/>
            </a:avLst>
          </a:prstGeom>
          <a:solidFill>
            <a:srgbClr val="0A5C46"/>
          </a:solidFill>
          <a:ln w="12700">
            <a:solidFill>
              <a:srgbClr val="10B981"/>
            </a:solidFill>
            <a:prstDash val="solid"/>
          </a:ln>
        </p:spPr>
      </p:sp>
      <p:sp>
        <p:nvSpPr>
          <p:cNvPr id="3" name="Text 1"/>
          <p:cNvSpPr/>
          <p:nvPr/>
        </p:nvSpPr>
        <p:spPr>
          <a:xfrm>
            <a:off x="1188720" y="1188720"/>
            <a:ext cx="7315200" cy="320040"/>
          </a:xfrm>
          <a:prstGeom prst="rect">
            <a:avLst/>
          </a:prstGeom>
          <a:noFill/>
          <a:ln/>
        </p:spPr>
        <p:txBody>
          <a:bodyPr wrap="square" rtlCol="0" anchor="ctr"/>
          <a:lstStyle/>
          <a:p>
            <a:pPr indent="0" marL="0">
              <a:buNone/>
            </a:pPr>
            <a:r>
              <a:rPr lang="en-US" sz="1100" b="1" spc="200" kern="0" dirty="0">
                <a:solidFill>
                  <a:srgbClr val="6EE7B7"/>
                </a:solidFill>
                <a:latin typeface="Arial" pitchFamily="34" charset="0"/>
                <a:ea typeface="Arial" pitchFamily="34" charset="-122"/>
                <a:cs typeface="Arial" pitchFamily="34" charset="-120"/>
              </a:rPr>
              <a:t>AGRITECH INNOVATION PITCH • 2026</a:t>
            </a:r>
            <a:endParaRPr lang="en-US" sz="1100" dirty="0"/>
          </a:p>
        </p:txBody>
      </p:sp>
      <p:sp>
        <p:nvSpPr>
          <p:cNvPr id="4" name="Text 2"/>
          <p:cNvSpPr/>
          <p:nvPr/>
        </p:nvSpPr>
        <p:spPr>
          <a:xfrm>
            <a:off x="1188720" y="1554480"/>
            <a:ext cx="9601200" cy="100584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KisanDr (किसान डॉक्टर)</a:t>
            </a:r>
            <a:endParaRPr lang="en-US" sz="4200" dirty="0"/>
          </a:p>
        </p:txBody>
      </p:sp>
      <p:sp>
        <p:nvSpPr>
          <p:cNvPr id="5" name="Text 3"/>
          <p:cNvSpPr/>
          <p:nvPr/>
        </p:nvSpPr>
        <p:spPr>
          <a:xfrm>
            <a:off x="1188720" y="2514600"/>
            <a:ext cx="9601200" cy="548640"/>
          </a:xfrm>
          <a:prstGeom prst="rect">
            <a:avLst/>
          </a:prstGeom>
          <a:noFill/>
          <a:ln/>
        </p:spPr>
        <p:txBody>
          <a:bodyPr wrap="square" rtlCol="0" anchor="ctr"/>
          <a:lstStyle/>
          <a:p>
            <a:pPr indent="0" marL="0">
              <a:buNone/>
            </a:pPr>
            <a:r>
              <a:rPr lang="en-US" sz="2000" dirty="0">
                <a:solidFill>
                  <a:srgbClr val="A7F3D0"/>
                </a:solidFill>
                <a:latin typeface="Arial" pitchFamily="34" charset="0"/>
                <a:ea typeface="Arial" pitchFamily="34" charset="-122"/>
                <a:cs typeface="Arial" pitchFamily="34" charset="-120"/>
              </a:rPr>
              <a:t>AI Crop Disease Scanner &amp; Real-Time Multilingual Voice Doctor</a:t>
            </a:r>
            <a:endParaRPr lang="en-US" sz="2000" dirty="0"/>
          </a:p>
        </p:txBody>
      </p:sp>
      <p:sp>
        <p:nvSpPr>
          <p:cNvPr id="6" name="Text 4"/>
          <p:cNvSpPr/>
          <p:nvPr/>
        </p:nvSpPr>
        <p:spPr>
          <a:xfrm>
            <a:off x="1188720" y="3154680"/>
            <a:ext cx="9601200" cy="822960"/>
          </a:xfrm>
          <a:prstGeom prst="rect">
            <a:avLst/>
          </a:prstGeom>
          <a:noFill/>
          <a:ln/>
        </p:spPr>
        <p:txBody>
          <a:bodyPr wrap="square" rtlCol="0" anchor="ctr"/>
          <a:lstStyle/>
          <a:p>
            <a:pPr indent="0" marL="0">
              <a:lnSpc>
                <a:spcPts val="1800"/>
              </a:lnSpc>
              <a:buNone/>
            </a:pPr>
            <a:r>
              <a:rPr lang="en-US" sz="1300" dirty="0">
                <a:solidFill>
                  <a:srgbClr val="E2E8F0"/>
                </a:solidFill>
                <a:latin typeface="Arial" pitchFamily="34" charset="0"/>
                <a:ea typeface="Arial" pitchFamily="34" charset="-122"/>
                <a:cs typeface="Arial" pitchFamily="34" charset="-120"/>
              </a:rPr>
              <a:t>Empowering 100M+ smallholder farmers with instant multimodal plant pathology diagnosis, localized seasonal context, and hands-free voice advisory in 7 native languages — with zero friction and zero login required.</a:t>
            </a:r>
            <a:endParaRPr lang="en-US" sz="1300" dirty="0"/>
          </a:p>
        </p:txBody>
      </p:sp>
      <p:sp>
        <p:nvSpPr>
          <p:cNvPr id="7" name="Shape 5"/>
          <p:cNvSpPr/>
          <p:nvPr/>
        </p:nvSpPr>
        <p:spPr>
          <a:xfrm>
            <a:off x="1188720" y="4206240"/>
            <a:ext cx="9601200" cy="1463040"/>
          </a:xfrm>
          <a:prstGeom prst="rect">
            <a:avLst/>
          </a:prstGeom>
          <a:solidFill>
            <a:srgbClr val="043B2C"/>
          </a:solidFill>
          <a:ln w="12700">
            <a:solidFill>
              <a:srgbClr val="059669"/>
            </a:solidFill>
            <a:prstDash val="solid"/>
          </a:ln>
        </p:spPr>
      </p:sp>
      <p:sp>
        <p:nvSpPr>
          <p:cNvPr id="8" name="Text 6"/>
          <p:cNvSpPr/>
          <p:nvPr/>
        </p:nvSpPr>
        <p:spPr>
          <a:xfrm>
            <a:off x="1463040" y="4389120"/>
            <a:ext cx="4114800" cy="274320"/>
          </a:xfrm>
          <a:prstGeom prst="rect">
            <a:avLst/>
          </a:prstGeom>
          <a:noFill/>
          <a:ln/>
        </p:spPr>
        <p:txBody>
          <a:bodyPr wrap="square" rtlCol="0" anchor="ctr"/>
          <a:lstStyle/>
          <a:p>
            <a:pPr indent="0" marL="0">
              <a:buNone/>
            </a:pPr>
            <a:r>
              <a:rPr lang="en-US" sz="1000" b="1" spc="100" kern="0" dirty="0">
                <a:solidFill>
                  <a:srgbClr val="34D399"/>
                </a:solidFill>
                <a:latin typeface="Arial" pitchFamily="34" charset="0"/>
                <a:ea typeface="Arial" pitchFamily="34" charset="-122"/>
                <a:cs typeface="Arial" pitchFamily="34" charset="-120"/>
              </a:rPr>
              <a:t>PROJECT LEAD &amp; PRESENTERS</a:t>
            </a:r>
            <a:endParaRPr lang="en-US" sz="1000" dirty="0"/>
          </a:p>
        </p:txBody>
      </p:sp>
      <p:sp>
        <p:nvSpPr>
          <p:cNvPr id="9" name="Text 7"/>
          <p:cNvSpPr/>
          <p:nvPr/>
        </p:nvSpPr>
        <p:spPr>
          <a:xfrm>
            <a:off x="1463040" y="4709160"/>
            <a:ext cx="41148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Arshad Basha Momin &amp; Team</a:t>
            </a:r>
            <a:endParaRPr lang="en-US" sz="1600" dirty="0"/>
          </a:p>
        </p:txBody>
      </p:sp>
      <p:sp>
        <p:nvSpPr>
          <p:cNvPr id="10" name="Text 8"/>
          <p:cNvSpPr/>
          <p:nvPr/>
        </p:nvSpPr>
        <p:spPr>
          <a:xfrm>
            <a:off x="1463040" y="5120640"/>
            <a:ext cx="4114800" cy="41148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Full-Stack AI &amp; AgriTech Solutions Group</a:t>
            </a:r>
            <a:endParaRPr lang="en-US" sz="1000" dirty="0"/>
          </a:p>
          <a:p>
            <a:pPr indent="0" marL="0">
              <a:buNone/>
            </a:pPr>
            <a:r>
              <a:rPr lang="en-US" sz="1000" dirty="0">
                <a:solidFill>
                  <a:srgbClr val="94A3B8"/>
                </a:solidFill>
                <a:latin typeface="Arial" pitchFamily="34" charset="0"/>
                <a:ea typeface="Arial" pitchFamily="34" charset="-122"/>
                <a:cs typeface="Arial" pitchFamily="34" charset="-120"/>
              </a:rPr>
              <a:t>arshadbashamomin@gmail.com</a:t>
            </a:r>
            <a:endParaRPr lang="en-US" sz="1000" dirty="0"/>
          </a:p>
        </p:txBody>
      </p:sp>
      <p:sp>
        <p:nvSpPr>
          <p:cNvPr id="11" name="Text 9"/>
          <p:cNvSpPr/>
          <p:nvPr/>
        </p:nvSpPr>
        <p:spPr>
          <a:xfrm>
            <a:off x="6217920" y="4389120"/>
            <a:ext cx="4114800" cy="274320"/>
          </a:xfrm>
          <a:prstGeom prst="rect">
            <a:avLst/>
          </a:prstGeom>
          <a:noFill/>
          <a:ln/>
        </p:spPr>
        <p:txBody>
          <a:bodyPr wrap="square" rtlCol="0" anchor="ctr"/>
          <a:lstStyle/>
          <a:p>
            <a:pPr indent="0" marL="0">
              <a:buNone/>
            </a:pPr>
            <a:r>
              <a:rPr lang="en-US" sz="1000" b="1" spc="100" kern="0" dirty="0">
                <a:solidFill>
                  <a:srgbClr val="34D399"/>
                </a:solidFill>
                <a:latin typeface="Arial" pitchFamily="34" charset="0"/>
                <a:ea typeface="Arial" pitchFamily="34" charset="-122"/>
                <a:cs typeface="Arial" pitchFamily="34" charset="-120"/>
              </a:rPr>
              <a:t>DEPLOYMENT &amp; SPECS</a:t>
            </a:r>
            <a:endParaRPr lang="en-US" sz="1000" dirty="0"/>
          </a:p>
        </p:txBody>
      </p:sp>
      <p:sp>
        <p:nvSpPr>
          <p:cNvPr id="12" name="Text 10"/>
          <p:cNvSpPr/>
          <p:nvPr/>
        </p:nvSpPr>
        <p:spPr>
          <a:xfrm>
            <a:off x="6217920" y="4709160"/>
            <a:ext cx="4297680" cy="822960"/>
          </a:xfrm>
          <a:prstGeom prst="rect">
            <a:avLst/>
          </a:prstGeom>
          <a:noFill/>
          <a:ln/>
        </p:spPr>
        <p:txBody>
          <a:bodyPr wrap="square" rtlCol="0" anchor="ctr"/>
          <a:lstStyle/>
          <a:p>
            <a:pPr indent="0" marL="0">
              <a:lnSpc>
                <a:spcPts val="1600"/>
              </a:lnSpc>
              <a:buNone/>
            </a:pPr>
            <a:r>
              <a:rPr lang="en-US" sz="1100" dirty="0">
                <a:solidFill>
                  <a:srgbClr val="E2E8F0"/>
                </a:solidFill>
                <a:latin typeface="Arial" pitchFamily="34" charset="0"/>
                <a:ea typeface="Arial" pitchFamily="34" charset="-122"/>
                <a:cs typeface="Arial" pitchFamily="34" charset="-120"/>
              </a:rPr>
              <a:t>• 100% Mobile Optimized PWA</a:t>
            </a:r>
            <a:endParaRPr lang="en-US" sz="1100" dirty="0"/>
          </a:p>
          <a:p>
            <a:pPr indent="0" marL="0">
              <a:lnSpc>
                <a:spcPts val="1600"/>
              </a:lnSpc>
              <a:buNone/>
            </a:pPr>
            <a:r>
              <a:rPr lang="en-US" sz="1100" dirty="0">
                <a:solidFill>
                  <a:srgbClr val="E2E8F0"/>
                </a:solidFill>
                <a:latin typeface="Arial" pitchFamily="34" charset="0"/>
                <a:ea typeface="Arial" pitchFamily="34" charset="-122"/>
                <a:cs typeface="Arial" pitchFamily="34" charset="-120"/>
              </a:rPr>
              <a:t>• Zero Login / Frictionless Field Access</a:t>
            </a:r>
            <a:endParaRPr lang="en-US" sz="1100" dirty="0"/>
          </a:p>
          <a:p>
            <a:pPr indent="0" marL="0">
              <a:lnSpc>
                <a:spcPts val="1600"/>
              </a:lnSpc>
              <a:buNone/>
            </a:pPr>
            <a:r>
              <a:rPr lang="en-US" sz="1100" dirty="0">
                <a:solidFill>
                  <a:srgbClr val="E2E8F0"/>
                </a:solidFill>
                <a:latin typeface="Arial" pitchFamily="34" charset="0"/>
                <a:ea typeface="Arial" pitchFamily="34" charset="-122"/>
                <a:cs typeface="Arial" pitchFamily="34" charset="-120"/>
              </a:rPr>
              <a:t>• 7 Regional Indian Languages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9669"/>
          </a:solidFill>
          <a:ln/>
        </p:spPr>
      </p:sp>
      <p:sp>
        <p:nvSpPr>
          <p:cNvPr id="3" name="Text 1"/>
          <p:cNvSpPr/>
          <p:nvPr/>
        </p:nvSpPr>
        <p:spPr>
          <a:xfrm>
            <a:off x="731520" y="411480"/>
            <a:ext cx="7315200" cy="274320"/>
          </a:xfrm>
          <a:prstGeom prst="rect">
            <a:avLst/>
          </a:prstGeom>
          <a:noFill/>
          <a:ln/>
        </p:spPr>
        <p:txBody>
          <a:bodyPr wrap="square" rtlCol="0" anchor="ctr"/>
          <a:lstStyle/>
          <a:p>
            <a:pPr indent="0" marL="0">
              <a:buNone/>
            </a:pPr>
            <a:r>
              <a:rPr lang="en-US" sz="1000" b="1" spc="200" kern="0" dirty="0">
                <a:solidFill>
                  <a:srgbClr val="059669"/>
                </a:solidFill>
                <a:latin typeface="Arial" pitchFamily="34" charset="0"/>
                <a:ea typeface="Arial" pitchFamily="34" charset="-122"/>
                <a:cs typeface="Arial" pitchFamily="34" charset="-120"/>
              </a:rPr>
              <a:t>THE AGRICULTURAL CRISIS</a:t>
            </a:r>
            <a:endParaRPr lang="en-US" sz="1000" dirty="0"/>
          </a:p>
        </p:txBody>
      </p:sp>
      <p:sp>
        <p:nvSpPr>
          <p:cNvPr id="4" name="Text 2"/>
          <p:cNvSpPr/>
          <p:nvPr/>
        </p:nvSpPr>
        <p:spPr>
          <a:xfrm>
            <a:off x="731520" y="68580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Introduction: The Hidden Cost of Crop Diseases</a:t>
            </a:r>
            <a:endParaRPr lang="en-US" sz="2400" dirty="0"/>
          </a:p>
        </p:txBody>
      </p:sp>
      <p:sp>
        <p:nvSpPr>
          <p:cNvPr id="5" name="Text 3"/>
          <p:cNvSpPr/>
          <p:nvPr/>
        </p:nvSpPr>
        <p:spPr>
          <a:xfrm>
            <a:off x="731520" y="1234440"/>
            <a:ext cx="10515600" cy="36576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Smallholder farmers lose an estimated 20% to 40% of their annual yield to preventable crop blights.</a:t>
            </a:r>
            <a:endParaRPr lang="en-US" sz="1200" dirty="0"/>
          </a:p>
        </p:txBody>
      </p:sp>
      <p:sp>
        <p:nvSpPr>
          <p:cNvPr id="6" name="Text 4"/>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KisanDr • AI Crop Disease Scanner &amp; Voice Assistant</a:t>
            </a:r>
            <a:endParaRPr lang="en-US" sz="900" dirty="0"/>
          </a:p>
        </p:txBody>
      </p:sp>
      <p:sp>
        <p:nvSpPr>
          <p:cNvPr id="7" name="Text 5"/>
          <p:cNvSpPr/>
          <p:nvPr/>
        </p:nvSpPr>
        <p:spPr>
          <a:xfrm>
            <a:off x="9601200" y="6446520"/>
            <a:ext cx="18288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Slide 2 of 7</a:t>
            </a:r>
            <a:endParaRPr lang="en-US" sz="900" dirty="0"/>
          </a:p>
        </p:txBody>
      </p:sp>
      <p:sp>
        <p:nvSpPr>
          <p:cNvPr id="8" name="Shape 6"/>
          <p:cNvSpPr/>
          <p:nvPr/>
        </p:nvSpPr>
        <p:spPr>
          <a:xfrm>
            <a:off x="731520" y="1783080"/>
            <a:ext cx="5120640" cy="2011680"/>
          </a:xfrm>
          <a:prstGeom prst="roundRect">
            <a:avLst>
              <a:gd name="adj" fmla="val 6818"/>
            </a:avLst>
          </a:prstGeom>
          <a:solidFill>
            <a:srgbClr val="FFFFFF"/>
          </a:solidFill>
          <a:ln w="12700">
            <a:solidFill>
              <a:srgbClr val="E2E8F0"/>
            </a:solidFill>
            <a:prstDash val="solid"/>
          </a:ln>
        </p:spPr>
      </p:sp>
      <p:sp>
        <p:nvSpPr>
          <p:cNvPr id="9" name="Text 7"/>
          <p:cNvSpPr/>
          <p:nvPr/>
        </p:nvSpPr>
        <p:spPr>
          <a:xfrm>
            <a:off x="1005840" y="2011680"/>
            <a:ext cx="2286000" cy="457200"/>
          </a:xfrm>
          <a:prstGeom prst="rect">
            <a:avLst/>
          </a:prstGeom>
          <a:noFill/>
          <a:ln/>
        </p:spPr>
        <p:txBody>
          <a:bodyPr wrap="square" rtlCol="0" anchor="ctr"/>
          <a:lstStyle/>
          <a:p>
            <a:pPr indent="0" marL="0">
              <a:buNone/>
            </a:pPr>
            <a:r>
              <a:rPr lang="en-US" sz="2200" b="1" dirty="0">
                <a:solidFill>
                  <a:srgbClr val="059669"/>
                </a:solidFill>
                <a:latin typeface="Arial" pitchFamily="34" charset="0"/>
                <a:ea typeface="Arial" pitchFamily="34" charset="-122"/>
                <a:cs typeface="Arial" pitchFamily="34" charset="-120"/>
              </a:rPr>
              <a:t>20% - 40%</a:t>
            </a:r>
            <a:endParaRPr lang="en-US" sz="2200" dirty="0"/>
          </a:p>
        </p:txBody>
      </p:sp>
      <p:sp>
        <p:nvSpPr>
          <p:cNvPr id="10" name="Text 8"/>
          <p:cNvSpPr/>
          <p:nvPr/>
        </p:nvSpPr>
        <p:spPr>
          <a:xfrm>
            <a:off x="3291840" y="21031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GLOBAL YIELD LOSS</a:t>
            </a:r>
            <a:endParaRPr lang="en-US" sz="900" dirty="0"/>
          </a:p>
        </p:txBody>
      </p:sp>
      <p:sp>
        <p:nvSpPr>
          <p:cNvPr id="11" name="Text 9"/>
          <p:cNvSpPr/>
          <p:nvPr/>
        </p:nvSpPr>
        <p:spPr>
          <a:xfrm>
            <a:off x="1005840" y="2514600"/>
            <a:ext cx="4572000" cy="36576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Devastating Crop Losses</a:t>
            </a:r>
            <a:endParaRPr lang="en-US" sz="1400" dirty="0"/>
          </a:p>
        </p:txBody>
      </p:sp>
      <p:sp>
        <p:nvSpPr>
          <p:cNvPr id="12" name="Text 10"/>
          <p:cNvSpPr/>
          <p:nvPr/>
        </p:nvSpPr>
        <p:spPr>
          <a:xfrm>
            <a:off x="1005840" y="2926080"/>
            <a:ext cx="4572000" cy="731520"/>
          </a:xfrm>
          <a:prstGeom prst="rect">
            <a:avLst/>
          </a:prstGeom>
          <a:noFill/>
          <a:ln/>
        </p:spPr>
        <p:txBody>
          <a:bodyPr wrap="square" rtlCol="0" anchor="ctr"/>
          <a:lstStyle/>
          <a:p>
            <a:pPr indent="0" marL="0">
              <a:lnSpc>
                <a:spcPts val="1500"/>
              </a:lnSpc>
              <a:buNone/>
            </a:pPr>
            <a:r>
              <a:rPr lang="en-US" sz="1100" dirty="0">
                <a:solidFill>
                  <a:srgbClr val="475569"/>
                </a:solidFill>
                <a:latin typeface="Arial" pitchFamily="34" charset="0"/>
                <a:ea typeface="Arial" pitchFamily="34" charset="-122"/>
                <a:cs typeface="Arial" pitchFamily="34" charset="-120"/>
              </a:rPr>
              <a:t>Global annual harvest destroyed by plant blights, pathogens, and insect infestations ($220B+ annual economic impact).</a:t>
            </a:r>
            <a:endParaRPr lang="en-US" sz="1100" dirty="0"/>
          </a:p>
        </p:txBody>
      </p:sp>
      <p:sp>
        <p:nvSpPr>
          <p:cNvPr id="13" name="Shape 11"/>
          <p:cNvSpPr/>
          <p:nvPr/>
        </p:nvSpPr>
        <p:spPr>
          <a:xfrm>
            <a:off x="6126480" y="1783080"/>
            <a:ext cx="5120640" cy="2011680"/>
          </a:xfrm>
          <a:prstGeom prst="roundRect">
            <a:avLst>
              <a:gd name="adj" fmla="val 6818"/>
            </a:avLst>
          </a:prstGeom>
          <a:solidFill>
            <a:srgbClr val="FFFFFF"/>
          </a:solidFill>
          <a:ln w="12700">
            <a:solidFill>
              <a:srgbClr val="E2E8F0"/>
            </a:solidFill>
            <a:prstDash val="solid"/>
          </a:ln>
        </p:spPr>
      </p:sp>
      <p:sp>
        <p:nvSpPr>
          <p:cNvPr id="14" name="Text 12"/>
          <p:cNvSpPr/>
          <p:nvPr/>
        </p:nvSpPr>
        <p:spPr>
          <a:xfrm>
            <a:off x="6400800" y="2011680"/>
            <a:ext cx="2286000" cy="457200"/>
          </a:xfrm>
          <a:prstGeom prst="rect">
            <a:avLst/>
          </a:prstGeom>
          <a:noFill/>
          <a:ln/>
        </p:spPr>
        <p:txBody>
          <a:bodyPr wrap="square" rtlCol="0" anchor="ctr"/>
          <a:lstStyle/>
          <a:p>
            <a:pPr indent="0" marL="0">
              <a:buNone/>
            </a:pPr>
            <a:r>
              <a:rPr lang="en-US" sz="2200" b="1" dirty="0">
                <a:solidFill>
                  <a:srgbClr val="059669"/>
                </a:solidFill>
                <a:latin typeface="Arial" pitchFamily="34" charset="0"/>
                <a:ea typeface="Arial" pitchFamily="34" charset="-122"/>
                <a:cs typeface="Arial" pitchFamily="34" charset="-120"/>
              </a:rPr>
              <a:t>1 : 12,000</a:t>
            </a:r>
            <a:endParaRPr lang="en-US" sz="2200" dirty="0"/>
          </a:p>
        </p:txBody>
      </p:sp>
      <p:sp>
        <p:nvSpPr>
          <p:cNvPr id="15" name="Text 13"/>
          <p:cNvSpPr/>
          <p:nvPr/>
        </p:nvSpPr>
        <p:spPr>
          <a:xfrm>
            <a:off x="8686800" y="210312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DELAYED DIAGNOSIS</a:t>
            </a:r>
            <a:endParaRPr lang="en-US" sz="900" dirty="0"/>
          </a:p>
        </p:txBody>
      </p:sp>
      <p:sp>
        <p:nvSpPr>
          <p:cNvPr id="16" name="Text 14"/>
          <p:cNvSpPr/>
          <p:nvPr/>
        </p:nvSpPr>
        <p:spPr>
          <a:xfrm>
            <a:off x="6400800" y="2514600"/>
            <a:ext cx="4572000" cy="36576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Agronomist Shortage</a:t>
            </a:r>
            <a:endParaRPr lang="en-US" sz="1400" dirty="0"/>
          </a:p>
        </p:txBody>
      </p:sp>
      <p:sp>
        <p:nvSpPr>
          <p:cNvPr id="17" name="Text 15"/>
          <p:cNvSpPr/>
          <p:nvPr/>
        </p:nvSpPr>
        <p:spPr>
          <a:xfrm>
            <a:off x="6400800" y="2926080"/>
            <a:ext cx="4572000" cy="731520"/>
          </a:xfrm>
          <a:prstGeom prst="rect">
            <a:avLst/>
          </a:prstGeom>
          <a:noFill/>
          <a:ln/>
        </p:spPr>
        <p:txBody>
          <a:bodyPr wrap="square" rtlCol="0" anchor="ctr"/>
          <a:lstStyle/>
          <a:p>
            <a:pPr indent="0" marL="0">
              <a:lnSpc>
                <a:spcPts val="1500"/>
              </a:lnSpc>
              <a:buNone/>
            </a:pPr>
            <a:r>
              <a:rPr lang="en-US" sz="1100" dirty="0">
                <a:solidFill>
                  <a:srgbClr val="475569"/>
                </a:solidFill>
                <a:latin typeface="Arial" pitchFamily="34" charset="0"/>
                <a:ea typeface="Arial" pitchFamily="34" charset="-122"/>
                <a:cs typeface="Arial" pitchFamily="34" charset="-120"/>
              </a:rPr>
              <a:t>Extension agent to farmer ratio across rural belts. Physical visits take days or weeks — far too late for fast-spreading fungal spores.</a:t>
            </a:r>
            <a:endParaRPr lang="en-US" sz="1100" dirty="0"/>
          </a:p>
        </p:txBody>
      </p:sp>
      <p:sp>
        <p:nvSpPr>
          <p:cNvPr id="18" name="Shape 16"/>
          <p:cNvSpPr/>
          <p:nvPr/>
        </p:nvSpPr>
        <p:spPr>
          <a:xfrm>
            <a:off x="731520" y="3977640"/>
            <a:ext cx="5120640" cy="2011680"/>
          </a:xfrm>
          <a:prstGeom prst="roundRect">
            <a:avLst>
              <a:gd name="adj" fmla="val 6818"/>
            </a:avLst>
          </a:prstGeom>
          <a:solidFill>
            <a:srgbClr val="FFFFFF"/>
          </a:solidFill>
          <a:ln w="12700">
            <a:solidFill>
              <a:srgbClr val="E2E8F0"/>
            </a:solidFill>
            <a:prstDash val="solid"/>
          </a:ln>
        </p:spPr>
      </p:sp>
      <p:sp>
        <p:nvSpPr>
          <p:cNvPr id="19" name="Text 17"/>
          <p:cNvSpPr/>
          <p:nvPr/>
        </p:nvSpPr>
        <p:spPr>
          <a:xfrm>
            <a:off x="1005840" y="4206240"/>
            <a:ext cx="2286000" cy="457200"/>
          </a:xfrm>
          <a:prstGeom prst="rect">
            <a:avLst/>
          </a:prstGeom>
          <a:noFill/>
          <a:ln/>
        </p:spPr>
        <p:txBody>
          <a:bodyPr wrap="square" rtlCol="0" anchor="ctr"/>
          <a:lstStyle/>
          <a:p>
            <a:pPr indent="0" marL="0">
              <a:buNone/>
            </a:pPr>
            <a:r>
              <a:rPr lang="en-US" sz="2200" b="1" dirty="0">
                <a:solidFill>
                  <a:srgbClr val="059669"/>
                </a:solidFill>
                <a:latin typeface="Arial" pitchFamily="34" charset="0"/>
                <a:ea typeface="Arial" pitchFamily="34" charset="-122"/>
                <a:cs typeface="Arial" pitchFamily="34" charset="-120"/>
              </a:rPr>
              <a:t>7+ Languages</a:t>
            </a:r>
            <a:endParaRPr lang="en-US" sz="2200" dirty="0"/>
          </a:p>
        </p:txBody>
      </p:sp>
      <p:sp>
        <p:nvSpPr>
          <p:cNvPr id="20" name="Text 18"/>
          <p:cNvSpPr/>
          <p:nvPr/>
        </p:nvSpPr>
        <p:spPr>
          <a:xfrm>
            <a:off x="3291840" y="429768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DIGITAL DIVIDE</a:t>
            </a:r>
            <a:endParaRPr lang="en-US" sz="900" dirty="0"/>
          </a:p>
        </p:txBody>
      </p:sp>
      <p:sp>
        <p:nvSpPr>
          <p:cNvPr id="21" name="Text 19"/>
          <p:cNvSpPr/>
          <p:nvPr/>
        </p:nvSpPr>
        <p:spPr>
          <a:xfrm>
            <a:off x="1005840" y="4709160"/>
            <a:ext cx="4572000" cy="36576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Language &amp; Literacy Barrier</a:t>
            </a:r>
            <a:endParaRPr lang="en-US" sz="1400" dirty="0"/>
          </a:p>
        </p:txBody>
      </p:sp>
      <p:sp>
        <p:nvSpPr>
          <p:cNvPr id="22" name="Text 20"/>
          <p:cNvSpPr/>
          <p:nvPr/>
        </p:nvSpPr>
        <p:spPr>
          <a:xfrm>
            <a:off x="1005840" y="5120640"/>
            <a:ext cx="4572000" cy="731520"/>
          </a:xfrm>
          <a:prstGeom prst="rect">
            <a:avLst/>
          </a:prstGeom>
          <a:noFill/>
          <a:ln/>
        </p:spPr>
        <p:txBody>
          <a:bodyPr wrap="square" rtlCol="0" anchor="ctr"/>
          <a:lstStyle/>
          <a:p>
            <a:pPr indent="0" marL="0">
              <a:lnSpc>
                <a:spcPts val="1500"/>
              </a:lnSpc>
              <a:buNone/>
            </a:pPr>
            <a:r>
              <a:rPr lang="en-US" sz="1100" dirty="0">
                <a:solidFill>
                  <a:srgbClr val="475569"/>
                </a:solidFill>
                <a:latin typeface="Arial" pitchFamily="34" charset="0"/>
                <a:ea typeface="Arial" pitchFamily="34" charset="-122"/>
                <a:cs typeface="Arial" pitchFamily="34" charset="-120"/>
              </a:rPr>
              <a:t>Most agriculture apps require English typing and complex accounts, alienating millions of illiterate or regional-first field farmers.</a:t>
            </a:r>
            <a:endParaRPr lang="en-US" sz="1100" dirty="0"/>
          </a:p>
        </p:txBody>
      </p:sp>
      <p:sp>
        <p:nvSpPr>
          <p:cNvPr id="23" name="Shape 21"/>
          <p:cNvSpPr/>
          <p:nvPr/>
        </p:nvSpPr>
        <p:spPr>
          <a:xfrm>
            <a:off x="6126480" y="3977640"/>
            <a:ext cx="5120640" cy="2011680"/>
          </a:xfrm>
          <a:prstGeom prst="roundRect">
            <a:avLst>
              <a:gd name="adj" fmla="val 6818"/>
            </a:avLst>
          </a:prstGeom>
          <a:solidFill>
            <a:srgbClr val="FFFFFF"/>
          </a:solidFill>
          <a:ln w="12700">
            <a:solidFill>
              <a:srgbClr val="E2E8F0"/>
            </a:solidFill>
            <a:prstDash val="solid"/>
          </a:ln>
        </p:spPr>
      </p:sp>
      <p:sp>
        <p:nvSpPr>
          <p:cNvPr id="24" name="Text 22"/>
          <p:cNvSpPr/>
          <p:nvPr/>
        </p:nvSpPr>
        <p:spPr>
          <a:xfrm>
            <a:off x="6400800" y="4206240"/>
            <a:ext cx="2286000" cy="457200"/>
          </a:xfrm>
          <a:prstGeom prst="rect">
            <a:avLst/>
          </a:prstGeom>
          <a:noFill/>
          <a:ln/>
        </p:spPr>
        <p:txBody>
          <a:bodyPr wrap="square" rtlCol="0" anchor="ctr"/>
          <a:lstStyle/>
          <a:p>
            <a:pPr indent="0" marL="0">
              <a:buNone/>
            </a:pPr>
            <a:r>
              <a:rPr lang="en-US" sz="2200" b="1" dirty="0">
                <a:solidFill>
                  <a:srgbClr val="059669"/>
                </a:solidFill>
                <a:latin typeface="Arial" pitchFamily="34" charset="0"/>
                <a:ea typeface="Arial" pitchFamily="34" charset="-122"/>
                <a:cs typeface="Arial" pitchFamily="34" charset="-120"/>
              </a:rPr>
              <a:t>₹8,500/Acre</a:t>
            </a:r>
            <a:endParaRPr lang="en-US" sz="2200" dirty="0"/>
          </a:p>
        </p:txBody>
      </p:sp>
      <p:sp>
        <p:nvSpPr>
          <p:cNvPr id="25" name="Text 23"/>
          <p:cNvSpPr/>
          <p:nvPr/>
        </p:nvSpPr>
        <p:spPr>
          <a:xfrm>
            <a:off x="8686800" y="4297680"/>
            <a:ext cx="2286000" cy="274320"/>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WASTEFUL SPRAYING</a:t>
            </a:r>
            <a:endParaRPr lang="en-US" sz="900" dirty="0"/>
          </a:p>
        </p:txBody>
      </p:sp>
      <p:sp>
        <p:nvSpPr>
          <p:cNvPr id="26" name="Text 24"/>
          <p:cNvSpPr/>
          <p:nvPr/>
        </p:nvSpPr>
        <p:spPr>
          <a:xfrm>
            <a:off x="6400800" y="4709160"/>
            <a:ext cx="4572000" cy="36576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Excessive Chemical Guesswork</a:t>
            </a:r>
            <a:endParaRPr lang="en-US" sz="1400" dirty="0"/>
          </a:p>
        </p:txBody>
      </p:sp>
      <p:sp>
        <p:nvSpPr>
          <p:cNvPr id="27" name="Text 25"/>
          <p:cNvSpPr/>
          <p:nvPr/>
        </p:nvSpPr>
        <p:spPr>
          <a:xfrm>
            <a:off x="6400800" y="5120640"/>
            <a:ext cx="4572000" cy="731520"/>
          </a:xfrm>
          <a:prstGeom prst="rect">
            <a:avLst/>
          </a:prstGeom>
          <a:noFill/>
          <a:ln/>
        </p:spPr>
        <p:txBody>
          <a:bodyPr wrap="square" rtlCol="0" anchor="ctr"/>
          <a:lstStyle/>
          <a:p>
            <a:pPr indent="0" marL="0">
              <a:lnSpc>
                <a:spcPts val="1500"/>
              </a:lnSpc>
              <a:buNone/>
            </a:pPr>
            <a:r>
              <a:rPr lang="en-US" sz="1100" dirty="0">
                <a:solidFill>
                  <a:srgbClr val="475569"/>
                </a:solidFill>
                <a:latin typeface="Arial" pitchFamily="34" charset="0"/>
                <a:ea typeface="Arial" pitchFamily="34" charset="-122"/>
                <a:cs typeface="Arial" pitchFamily="34" charset="-120"/>
              </a:rPr>
              <a:t>Farmers spray expensive, incorrect chemical fungicides out of panic, poisoning groundwater and eroding their razor-thin margins.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9669"/>
          </a:solidFill>
          <a:ln/>
        </p:spPr>
      </p:sp>
      <p:sp>
        <p:nvSpPr>
          <p:cNvPr id="3" name="Text 1"/>
          <p:cNvSpPr/>
          <p:nvPr/>
        </p:nvSpPr>
        <p:spPr>
          <a:xfrm>
            <a:off x="731520" y="411480"/>
            <a:ext cx="7315200" cy="274320"/>
          </a:xfrm>
          <a:prstGeom prst="rect">
            <a:avLst/>
          </a:prstGeom>
          <a:noFill/>
          <a:ln/>
        </p:spPr>
        <p:txBody>
          <a:bodyPr wrap="square" rtlCol="0" anchor="ctr"/>
          <a:lstStyle/>
          <a:p>
            <a:pPr indent="0" marL="0">
              <a:buNone/>
            </a:pPr>
            <a:r>
              <a:rPr lang="en-US" sz="1000" b="1" spc="200" kern="0" dirty="0">
                <a:solidFill>
                  <a:srgbClr val="059669"/>
                </a:solidFill>
                <a:latin typeface="Arial" pitchFamily="34" charset="0"/>
                <a:ea typeface="Arial" pitchFamily="34" charset="-122"/>
                <a:cs typeface="Arial" pitchFamily="34" charset="-120"/>
              </a:rPr>
              <a:t>EXECUTIVE SUMMARY</a:t>
            </a:r>
            <a:endParaRPr lang="en-US" sz="1000" dirty="0"/>
          </a:p>
        </p:txBody>
      </p:sp>
      <p:sp>
        <p:nvSpPr>
          <p:cNvPr id="4" name="Text 2"/>
          <p:cNvSpPr/>
          <p:nvPr/>
        </p:nvSpPr>
        <p:spPr>
          <a:xfrm>
            <a:off x="731520" y="68580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Abstract: A Voice-First Agricultural AI Doctor</a:t>
            </a:r>
            <a:endParaRPr lang="en-US" sz="2400" dirty="0"/>
          </a:p>
        </p:txBody>
      </p:sp>
      <p:sp>
        <p:nvSpPr>
          <p:cNvPr id="5" name="Text 3"/>
          <p:cNvSpPr/>
          <p:nvPr/>
        </p:nvSpPr>
        <p:spPr>
          <a:xfrm>
            <a:off x="731520" y="1234440"/>
            <a:ext cx="10515600" cy="36576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KisanDr bridges the agricultural expertise gap by delivering instant leaf pathology &amp; regional voice advice.</a:t>
            </a:r>
            <a:endParaRPr lang="en-US" sz="1200" dirty="0"/>
          </a:p>
        </p:txBody>
      </p:sp>
      <p:sp>
        <p:nvSpPr>
          <p:cNvPr id="6" name="Text 4"/>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KisanDr • AI Crop Disease Scanner &amp; Voice Assistant</a:t>
            </a:r>
            <a:endParaRPr lang="en-US" sz="900" dirty="0"/>
          </a:p>
        </p:txBody>
      </p:sp>
      <p:sp>
        <p:nvSpPr>
          <p:cNvPr id="7" name="Text 5"/>
          <p:cNvSpPr/>
          <p:nvPr/>
        </p:nvSpPr>
        <p:spPr>
          <a:xfrm>
            <a:off x="9601200" y="6446520"/>
            <a:ext cx="18288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Slide 3 of 7</a:t>
            </a:r>
            <a:endParaRPr lang="en-US" sz="900" dirty="0"/>
          </a:p>
        </p:txBody>
      </p:sp>
      <p:sp>
        <p:nvSpPr>
          <p:cNvPr id="8" name="Shape 6"/>
          <p:cNvSpPr/>
          <p:nvPr/>
        </p:nvSpPr>
        <p:spPr>
          <a:xfrm>
            <a:off x="731520" y="1783080"/>
            <a:ext cx="5303520" cy="4434840"/>
          </a:xfrm>
          <a:prstGeom prst="roundRect">
            <a:avLst>
              <a:gd name="adj" fmla="val 4124"/>
            </a:avLst>
          </a:prstGeom>
          <a:solidFill>
            <a:srgbClr val="064E3B"/>
          </a:solidFill>
          <a:ln/>
        </p:spPr>
      </p:sp>
      <p:sp>
        <p:nvSpPr>
          <p:cNvPr id="9" name="Text 7"/>
          <p:cNvSpPr/>
          <p:nvPr/>
        </p:nvSpPr>
        <p:spPr>
          <a:xfrm>
            <a:off x="1097280" y="2103120"/>
            <a:ext cx="4572000" cy="274320"/>
          </a:xfrm>
          <a:prstGeom prst="rect">
            <a:avLst/>
          </a:prstGeom>
          <a:noFill/>
          <a:ln/>
        </p:spPr>
        <p:txBody>
          <a:bodyPr wrap="square" rtlCol="0" anchor="ctr"/>
          <a:lstStyle/>
          <a:p>
            <a:pPr indent="0" marL="0">
              <a:buNone/>
            </a:pPr>
            <a:r>
              <a:rPr lang="en-US" sz="1000" b="1" spc="150" kern="0" dirty="0">
                <a:solidFill>
                  <a:srgbClr val="6EE7B7"/>
                </a:solidFill>
                <a:latin typeface="Arial" pitchFamily="34" charset="0"/>
                <a:ea typeface="Arial" pitchFamily="34" charset="-122"/>
                <a:cs typeface="Arial" pitchFamily="34" charset="-120"/>
              </a:rPr>
              <a:t>CORE PRODUCT PHILOSOPHY</a:t>
            </a:r>
            <a:endParaRPr lang="en-US" sz="1000" dirty="0"/>
          </a:p>
        </p:txBody>
      </p:sp>
      <p:sp>
        <p:nvSpPr>
          <p:cNvPr id="10" name="Text 8"/>
          <p:cNvSpPr/>
          <p:nvPr/>
        </p:nvSpPr>
        <p:spPr>
          <a:xfrm>
            <a:off x="1097280" y="2423160"/>
            <a:ext cx="4572000" cy="8229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Turn Every Smartphone Into a Certified Agronomist Clinic</a:t>
            </a:r>
            <a:endParaRPr lang="en-US" sz="2000" dirty="0"/>
          </a:p>
        </p:txBody>
      </p:sp>
      <p:sp>
        <p:nvSpPr>
          <p:cNvPr id="11" name="Text 9"/>
          <p:cNvSpPr/>
          <p:nvPr/>
        </p:nvSpPr>
        <p:spPr>
          <a:xfrm>
            <a:off x="1097280" y="3337560"/>
            <a:ext cx="4572000" cy="2560320"/>
          </a:xfrm>
          <a:prstGeom prst="rect">
            <a:avLst/>
          </a:prstGeom>
          <a:noFill/>
          <a:ln/>
        </p:spPr>
        <p:txBody>
          <a:bodyPr wrap="square" rtlCol="0" anchor="ctr"/>
          <a:lstStyle/>
          <a:p>
            <a:pPr indent="0" marL="0">
              <a:lnSpc>
                <a:spcPts val="1800"/>
              </a:lnSpc>
              <a:buNone/>
            </a:pPr>
            <a:r>
              <a:rPr lang="en-US" sz="1200" dirty="0">
                <a:solidFill>
                  <a:srgbClr val="E2E8F0"/>
                </a:solidFill>
                <a:latin typeface="Arial" pitchFamily="34" charset="0"/>
                <a:ea typeface="Arial" pitchFamily="34" charset="-122"/>
                <a:cs typeface="Arial" pitchFamily="34" charset="-120"/>
              </a:rPr>
              <a:t>KisanDr removes all technical friction for rural communities. With zero logins, zero passwords, and zero account setup, farmers simply open the app, point their camera at infected foliage, and receive an instant plant pathology verdict backed by verified agronomic models.</a:t>
            </a:r>
            <a:endParaRPr lang="en-US" sz="1200" dirty="0"/>
          </a:p>
          <a:p>
            <a:pPr indent="0" marL="0">
              <a:lnSpc>
                <a:spcPts val="1800"/>
              </a:lnSpc>
              <a:buNone/>
            </a:pPr>
            <a:endParaRPr lang="en-US" sz="1200" dirty="0"/>
          </a:p>
          <a:p>
            <a:pPr indent="0" marL="0">
              <a:lnSpc>
                <a:spcPts val="1800"/>
              </a:lnSpc>
              <a:buNone/>
            </a:pPr>
            <a:r>
              <a:rPr lang="en-US" sz="1200" dirty="0">
                <a:solidFill>
                  <a:srgbClr val="E2E8F0"/>
                </a:solidFill>
                <a:latin typeface="Arial" pitchFamily="34" charset="0"/>
                <a:ea typeface="Arial" pitchFamily="34" charset="-122"/>
                <a:cs typeface="Arial" pitchFamily="34" charset="-120"/>
              </a:rPr>
              <a:t>Going beyond static text sheets, KisanDr integrates bidirectional voice interaction in 7 native languages (Hindi, Kannada, Telugu, Tamil, Marathi, Bengali, English). Farmers can talk to the AI as naturally as consulting an expert friend standing in their field.</a:t>
            </a:r>
            <a:endParaRPr lang="en-US" sz="1200" dirty="0"/>
          </a:p>
        </p:txBody>
      </p:sp>
      <p:sp>
        <p:nvSpPr>
          <p:cNvPr id="12" name="Shape 10"/>
          <p:cNvSpPr/>
          <p:nvPr/>
        </p:nvSpPr>
        <p:spPr>
          <a:xfrm>
            <a:off x="6309360" y="1783080"/>
            <a:ext cx="5120640" cy="1353312"/>
          </a:xfrm>
          <a:prstGeom prst="roundRect">
            <a:avLst>
              <a:gd name="adj" fmla="val 10135"/>
            </a:avLst>
          </a:prstGeom>
          <a:solidFill>
            <a:srgbClr val="FFFFFF"/>
          </a:solidFill>
          <a:ln w="12700">
            <a:solidFill>
              <a:srgbClr val="E2E8F0"/>
            </a:solidFill>
            <a:prstDash val="solid"/>
          </a:ln>
        </p:spPr>
      </p:sp>
      <p:sp>
        <p:nvSpPr>
          <p:cNvPr id="13" name="Text 11"/>
          <p:cNvSpPr/>
          <p:nvPr/>
        </p:nvSpPr>
        <p:spPr>
          <a:xfrm>
            <a:off x="6583680" y="1947672"/>
            <a:ext cx="1828800" cy="228600"/>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PILLAR 1</a:t>
            </a:r>
            <a:endParaRPr lang="en-US" sz="900" dirty="0"/>
          </a:p>
        </p:txBody>
      </p:sp>
      <p:sp>
        <p:nvSpPr>
          <p:cNvPr id="14" name="Text 12"/>
          <p:cNvSpPr/>
          <p:nvPr/>
        </p:nvSpPr>
        <p:spPr>
          <a:xfrm>
            <a:off x="6583680" y="2167128"/>
            <a:ext cx="4572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Multimodal Pathology Engine</a:t>
            </a:r>
            <a:endParaRPr lang="en-US" sz="1300" dirty="0"/>
          </a:p>
        </p:txBody>
      </p:sp>
      <p:sp>
        <p:nvSpPr>
          <p:cNvPr id="15" name="Text 13"/>
          <p:cNvSpPr/>
          <p:nvPr/>
        </p:nvSpPr>
        <p:spPr>
          <a:xfrm>
            <a:off x="6583680" y="2496312"/>
            <a:ext cx="4572000" cy="548640"/>
          </a:xfrm>
          <a:prstGeom prst="rect">
            <a:avLst/>
          </a:prstGeom>
          <a:noFill/>
          <a:ln/>
        </p:spPr>
        <p:txBody>
          <a:bodyPr wrap="square" rtlCol="0" anchor="ctr"/>
          <a:lstStyle/>
          <a:p>
            <a:pPr indent="0" marL="0">
              <a:lnSpc>
                <a:spcPts val="1300"/>
              </a:lnSpc>
              <a:buNone/>
            </a:pPr>
            <a:r>
              <a:rPr lang="en-US" sz="1000" dirty="0">
                <a:solidFill>
                  <a:srgbClr val="475569"/>
                </a:solidFill>
                <a:latin typeface="Arial" pitchFamily="34" charset="0"/>
                <a:ea typeface="Arial" pitchFamily="34" charset="-122"/>
                <a:cs typeface="Arial" pitchFamily="34" charset="-120"/>
              </a:rPr>
              <a:t>State-of-the-art vision models recognize crops, fungal blights, bacterial cankers, and nutrient deficiencies. Includes rigorous anti-hallucination checks that reject blurry or non-plant images.</a:t>
            </a:r>
            <a:endParaRPr lang="en-US" sz="1000" dirty="0"/>
          </a:p>
        </p:txBody>
      </p:sp>
      <p:sp>
        <p:nvSpPr>
          <p:cNvPr id="16" name="Shape 14"/>
          <p:cNvSpPr/>
          <p:nvPr/>
        </p:nvSpPr>
        <p:spPr>
          <a:xfrm>
            <a:off x="6309360" y="3264408"/>
            <a:ext cx="5120640" cy="1353312"/>
          </a:xfrm>
          <a:prstGeom prst="roundRect">
            <a:avLst>
              <a:gd name="adj" fmla="val 10135"/>
            </a:avLst>
          </a:prstGeom>
          <a:solidFill>
            <a:srgbClr val="FFFFFF"/>
          </a:solidFill>
          <a:ln w="12700">
            <a:solidFill>
              <a:srgbClr val="E2E8F0"/>
            </a:solidFill>
            <a:prstDash val="solid"/>
          </a:ln>
        </p:spPr>
      </p:sp>
      <p:sp>
        <p:nvSpPr>
          <p:cNvPr id="17" name="Text 15"/>
          <p:cNvSpPr/>
          <p:nvPr/>
        </p:nvSpPr>
        <p:spPr>
          <a:xfrm>
            <a:off x="6583680" y="3429000"/>
            <a:ext cx="1828800" cy="228600"/>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PILLAR 2</a:t>
            </a:r>
            <a:endParaRPr lang="en-US" sz="900" dirty="0"/>
          </a:p>
        </p:txBody>
      </p:sp>
      <p:sp>
        <p:nvSpPr>
          <p:cNvPr id="18" name="Text 16"/>
          <p:cNvSpPr/>
          <p:nvPr/>
        </p:nvSpPr>
        <p:spPr>
          <a:xfrm>
            <a:off x="6583680" y="3648456"/>
            <a:ext cx="4572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Location &amp; Seasonal Intelligence</a:t>
            </a:r>
            <a:endParaRPr lang="en-US" sz="1300" dirty="0"/>
          </a:p>
        </p:txBody>
      </p:sp>
      <p:sp>
        <p:nvSpPr>
          <p:cNvPr id="19" name="Text 17"/>
          <p:cNvSpPr/>
          <p:nvPr/>
        </p:nvSpPr>
        <p:spPr>
          <a:xfrm>
            <a:off x="6583680" y="3977640"/>
            <a:ext cx="4572000" cy="548640"/>
          </a:xfrm>
          <a:prstGeom prst="rect">
            <a:avLst/>
          </a:prstGeom>
          <a:noFill/>
          <a:ln/>
        </p:spPr>
        <p:txBody>
          <a:bodyPr wrap="square" rtlCol="0" anchor="ctr"/>
          <a:lstStyle/>
          <a:p>
            <a:pPr indent="0" marL="0">
              <a:lnSpc>
                <a:spcPts val="1300"/>
              </a:lnSpc>
              <a:buNone/>
            </a:pPr>
            <a:r>
              <a:rPr lang="en-US" sz="1000" dirty="0">
                <a:solidFill>
                  <a:srgbClr val="475569"/>
                </a:solidFill>
                <a:latin typeface="Arial" pitchFamily="34" charset="0"/>
                <a:ea typeface="Arial" pitchFamily="34" charset="-122"/>
                <a:cs typeface="Arial" pitchFamily="34" charset="-120"/>
              </a:rPr>
              <a:t>Browser geolocation and harvest calendars correlate local humidity and weather (e.g. monsoon moisture driving Early Blight in Karnataka) for regionally accurate treatment plans.</a:t>
            </a:r>
            <a:endParaRPr lang="en-US" sz="1000" dirty="0"/>
          </a:p>
        </p:txBody>
      </p:sp>
      <p:sp>
        <p:nvSpPr>
          <p:cNvPr id="20" name="Shape 18"/>
          <p:cNvSpPr/>
          <p:nvPr/>
        </p:nvSpPr>
        <p:spPr>
          <a:xfrm>
            <a:off x="6309360" y="4745736"/>
            <a:ext cx="5120640" cy="1353312"/>
          </a:xfrm>
          <a:prstGeom prst="roundRect">
            <a:avLst>
              <a:gd name="adj" fmla="val 10135"/>
            </a:avLst>
          </a:prstGeom>
          <a:solidFill>
            <a:srgbClr val="FFFFFF"/>
          </a:solidFill>
          <a:ln w="12700">
            <a:solidFill>
              <a:srgbClr val="E2E8F0"/>
            </a:solidFill>
            <a:prstDash val="solid"/>
          </a:ln>
        </p:spPr>
      </p:sp>
      <p:sp>
        <p:nvSpPr>
          <p:cNvPr id="21" name="Text 19"/>
          <p:cNvSpPr/>
          <p:nvPr/>
        </p:nvSpPr>
        <p:spPr>
          <a:xfrm>
            <a:off x="6583680" y="4910328"/>
            <a:ext cx="1828800" cy="228600"/>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PILLAR 3</a:t>
            </a:r>
            <a:endParaRPr lang="en-US" sz="900" dirty="0"/>
          </a:p>
        </p:txBody>
      </p:sp>
      <p:sp>
        <p:nvSpPr>
          <p:cNvPr id="22" name="Text 20"/>
          <p:cNvSpPr/>
          <p:nvPr/>
        </p:nvSpPr>
        <p:spPr>
          <a:xfrm>
            <a:off x="6583680" y="5129784"/>
            <a:ext cx="4572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Hands-Free Regional Voice AI</a:t>
            </a:r>
            <a:endParaRPr lang="en-US" sz="1300" dirty="0"/>
          </a:p>
        </p:txBody>
      </p:sp>
      <p:sp>
        <p:nvSpPr>
          <p:cNvPr id="23" name="Text 21"/>
          <p:cNvSpPr/>
          <p:nvPr/>
        </p:nvSpPr>
        <p:spPr>
          <a:xfrm>
            <a:off x="6583680" y="5458968"/>
            <a:ext cx="4572000" cy="548640"/>
          </a:xfrm>
          <a:prstGeom prst="rect">
            <a:avLst/>
          </a:prstGeom>
          <a:noFill/>
          <a:ln/>
        </p:spPr>
        <p:txBody>
          <a:bodyPr wrap="square" rtlCol="0" anchor="ctr"/>
          <a:lstStyle/>
          <a:p>
            <a:pPr indent="0" marL="0">
              <a:lnSpc>
                <a:spcPts val="1300"/>
              </a:lnSpc>
              <a:buNone/>
            </a:pPr>
            <a:r>
              <a:rPr lang="en-US" sz="1000" dirty="0">
                <a:solidFill>
                  <a:srgbClr val="475569"/>
                </a:solidFill>
                <a:latin typeface="Arial" pitchFamily="34" charset="0"/>
                <a:ea typeface="Arial" pitchFamily="34" charset="-122"/>
                <a:cs typeface="Arial" pitchFamily="34" charset="-120"/>
              </a:rPr>
              <a:t>Natural, spoken question-and-answer interface allowing farmers to ask questions verbally and receive concise, 1-2 sentence actionable answers in their mother tongue.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9669"/>
          </a:solidFill>
          <a:ln/>
        </p:spPr>
      </p:sp>
      <p:sp>
        <p:nvSpPr>
          <p:cNvPr id="3" name="Text 1"/>
          <p:cNvSpPr/>
          <p:nvPr/>
        </p:nvSpPr>
        <p:spPr>
          <a:xfrm>
            <a:off x="731520" y="411480"/>
            <a:ext cx="7315200" cy="274320"/>
          </a:xfrm>
          <a:prstGeom prst="rect">
            <a:avLst/>
          </a:prstGeom>
          <a:noFill/>
          <a:ln/>
        </p:spPr>
        <p:txBody>
          <a:bodyPr wrap="square" rtlCol="0" anchor="ctr"/>
          <a:lstStyle/>
          <a:p>
            <a:pPr indent="0" marL="0">
              <a:buNone/>
            </a:pPr>
            <a:r>
              <a:rPr lang="en-US" sz="1000" b="1" spc="200" kern="0" dirty="0">
                <a:solidFill>
                  <a:srgbClr val="059669"/>
                </a:solidFill>
                <a:latin typeface="Arial" pitchFamily="34" charset="0"/>
                <a:ea typeface="Arial" pitchFamily="34" charset="-122"/>
                <a:cs typeface="Arial" pitchFamily="34" charset="-120"/>
              </a:rPr>
              <a:t>VALUE PROPOSITION</a:t>
            </a:r>
            <a:endParaRPr lang="en-US" sz="1000" dirty="0"/>
          </a:p>
        </p:txBody>
      </p:sp>
      <p:sp>
        <p:nvSpPr>
          <p:cNvPr id="4" name="Text 2"/>
          <p:cNvSpPr/>
          <p:nvPr/>
        </p:nvSpPr>
        <p:spPr>
          <a:xfrm>
            <a:off x="731520" y="68580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Benefits &amp; Usage (1/2): Agronomic &amp; User Advantages</a:t>
            </a:r>
            <a:endParaRPr lang="en-US" sz="2400" dirty="0"/>
          </a:p>
        </p:txBody>
      </p:sp>
      <p:sp>
        <p:nvSpPr>
          <p:cNvPr id="5" name="Text 3"/>
          <p:cNvSpPr/>
          <p:nvPr/>
        </p:nvSpPr>
        <p:spPr>
          <a:xfrm>
            <a:off x="731520" y="1234440"/>
            <a:ext cx="10515600" cy="36576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Engineered specifically for rural field constraints, low connectivity, and diverse literacy levels.</a:t>
            </a:r>
            <a:endParaRPr lang="en-US" sz="1200" dirty="0"/>
          </a:p>
        </p:txBody>
      </p:sp>
      <p:sp>
        <p:nvSpPr>
          <p:cNvPr id="6" name="Text 4"/>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KisanDr • AI Crop Disease Scanner &amp; Voice Assistant</a:t>
            </a:r>
            <a:endParaRPr lang="en-US" sz="900" dirty="0"/>
          </a:p>
        </p:txBody>
      </p:sp>
      <p:sp>
        <p:nvSpPr>
          <p:cNvPr id="7" name="Text 5"/>
          <p:cNvSpPr/>
          <p:nvPr/>
        </p:nvSpPr>
        <p:spPr>
          <a:xfrm>
            <a:off x="9601200" y="6446520"/>
            <a:ext cx="18288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Slide 4 of 7</a:t>
            </a:r>
            <a:endParaRPr lang="en-US" sz="900" dirty="0"/>
          </a:p>
        </p:txBody>
      </p:sp>
      <p:sp>
        <p:nvSpPr>
          <p:cNvPr id="8" name="Shape 6"/>
          <p:cNvSpPr/>
          <p:nvPr/>
        </p:nvSpPr>
        <p:spPr>
          <a:xfrm>
            <a:off x="731520" y="1783080"/>
            <a:ext cx="3410712" cy="2057400"/>
          </a:xfrm>
          <a:prstGeom prst="roundRect">
            <a:avLst>
              <a:gd name="adj" fmla="val 6667"/>
            </a:avLst>
          </a:prstGeom>
          <a:solidFill>
            <a:srgbClr val="FFFFFF"/>
          </a:solidFill>
          <a:ln w="12700">
            <a:solidFill>
              <a:srgbClr val="E2E8F0"/>
            </a:solidFill>
            <a:prstDash val="solid"/>
          </a:ln>
        </p:spPr>
      </p:sp>
      <p:sp>
        <p:nvSpPr>
          <p:cNvPr id="9" name="Text 7"/>
          <p:cNvSpPr/>
          <p:nvPr/>
        </p:nvSpPr>
        <p:spPr>
          <a:xfrm>
            <a:off x="960120" y="1984248"/>
            <a:ext cx="2926080" cy="228600"/>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SPEED &amp; PRECISION</a:t>
            </a:r>
            <a:endParaRPr lang="en-US" sz="800" dirty="0"/>
          </a:p>
        </p:txBody>
      </p:sp>
      <p:sp>
        <p:nvSpPr>
          <p:cNvPr id="10" name="Text 8"/>
          <p:cNvSpPr/>
          <p:nvPr/>
        </p:nvSpPr>
        <p:spPr>
          <a:xfrm>
            <a:off x="960120" y="2240280"/>
            <a:ext cx="292608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Instant Sub-Second Diagnosis</a:t>
            </a:r>
            <a:endParaRPr lang="en-US" sz="1200" dirty="0"/>
          </a:p>
        </p:txBody>
      </p:sp>
      <p:sp>
        <p:nvSpPr>
          <p:cNvPr id="11" name="Text 9"/>
          <p:cNvSpPr/>
          <p:nvPr/>
        </p:nvSpPr>
        <p:spPr>
          <a:xfrm>
            <a:off x="960120" y="269748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Detects diseases, severity level (Low, Medium, Critical), visible leaf symptoms, and nutrient deficiencies with confidence scoring.</a:t>
            </a:r>
            <a:endParaRPr lang="en-US" sz="1000" dirty="0"/>
          </a:p>
        </p:txBody>
      </p:sp>
      <p:sp>
        <p:nvSpPr>
          <p:cNvPr id="12" name="Shape 10"/>
          <p:cNvSpPr/>
          <p:nvPr/>
        </p:nvSpPr>
        <p:spPr>
          <a:xfrm>
            <a:off x="4325112" y="1783080"/>
            <a:ext cx="3410712" cy="2057400"/>
          </a:xfrm>
          <a:prstGeom prst="roundRect">
            <a:avLst>
              <a:gd name="adj" fmla="val 6667"/>
            </a:avLst>
          </a:prstGeom>
          <a:solidFill>
            <a:srgbClr val="FFFFFF"/>
          </a:solidFill>
          <a:ln w="12700">
            <a:solidFill>
              <a:srgbClr val="E2E8F0"/>
            </a:solidFill>
            <a:prstDash val="solid"/>
          </a:ln>
        </p:spPr>
      </p:sp>
      <p:sp>
        <p:nvSpPr>
          <p:cNvPr id="13" name="Text 11"/>
          <p:cNvSpPr/>
          <p:nvPr/>
        </p:nvSpPr>
        <p:spPr>
          <a:xfrm>
            <a:off x="4553712" y="1984248"/>
            <a:ext cx="2926080" cy="228600"/>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CLINICAL SAFETY</a:t>
            </a:r>
            <a:endParaRPr lang="en-US" sz="800" dirty="0"/>
          </a:p>
        </p:txBody>
      </p:sp>
      <p:sp>
        <p:nvSpPr>
          <p:cNvPr id="14" name="Text 12"/>
          <p:cNvSpPr/>
          <p:nvPr/>
        </p:nvSpPr>
        <p:spPr>
          <a:xfrm>
            <a:off x="4553712" y="2240280"/>
            <a:ext cx="292608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Anti-Hallucination Safe Mode</a:t>
            </a:r>
            <a:endParaRPr lang="en-US" sz="1200" dirty="0"/>
          </a:p>
        </p:txBody>
      </p:sp>
      <p:sp>
        <p:nvSpPr>
          <p:cNvPr id="15" name="Text 13"/>
          <p:cNvSpPr/>
          <p:nvPr/>
        </p:nvSpPr>
        <p:spPr>
          <a:xfrm>
            <a:off x="4553712" y="269748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Strict rejection safeguards: If the photo is out of focus, poorly lit, or not a crop, the AI refuses to guess and guides the user to retake.</a:t>
            </a:r>
            <a:endParaRPr lang="en-US" sz="1000" dirty="0"/>
          </a:p>
        </p:txBody>
      </p:sp>
      <p:sp>
        <p:nvSpPr>
          <p:cNvPr id="16" name="Shape 14"/>
          <p:cNvSpPr/>
          <p:nvPr/>
        </p:nvSpPr>
        <p:spPr>
          <a:xfrm>
            <a:off x="7918704" y="1783080"/>
            <a:ext cx="3410712" cy="2057400"/>
          </a:xfrm>
          <a:prstGeom prst="roundRect">
            <a:avLst>
              <a:gd name="adj" fmla="val 6667"/>
            </a:avLst>
          </a:prstGeom>
          <a:solidFill>
            <a:srgbClr val="FFFFFF"/>
          </a:solidFill>
          <a:ln w="12700">
            <a:solidFill>
              <a:srgbClr val="E2E8F0"/>
            </a:solidFill>
            <a:prstDash val="solid"/>
          </a:ln>
        </p:spPr>
      </p:sp>
      <p:sp>
        <p:nvSpPr>
          <p:cNvPr id="17" name="Text 15"/>
          <p:cNvSpPr/>
          <p:nvPr/>
        </p:nvSpPr>
        <p:spPr>
          <a:xfrm>
            <a:off x="8147304" y="1984248"/>
            <a:ext cx="2926080" cy="228600"/>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SUSTAINABLE FARMING</a:t>
            </a:r>
            <a:endParaRPr lang="en-US" sz="800" dirty="0"/>
          </a:p>
        </p:txBody>
      </p:sp>
      <p:sp>
        <p:nvSpPr>
          <p:cNvPr id="18" name="Text 16"/>
          <p:cNvSpPr/>
          <p:nvPr/>
        </p:nvSpPr>
        <p:spPr>
          <a:xfrm>
            <a:off x="8147304" y="2240280"/>
            <a:ext cx="292608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Organic-First Treatment Plans</a:t>
            </a:r>
            <a:endParaRPr lang="en-US" sz="1200" dirty="0"/>
          </a:p>
        </p:txBody>
      </p:sp>
      <p:sp>
        <p:nvSpPr>
          <p:cNvPr id="19" name="Text 17"/>
          <p:cNvSpPr/>
          <p:nvPr/>
        </p:nvSpPr>
        <p:spPr>
          <a:xfrm>
            <a:off x="8147304" y="269748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Prioritizes biological remedies (Neem formulations, Trichoderma viride, crop hygiene) before recommending hazardous chemical sprays.</a:t>
            </a:r>
            <a:endParaRPr lang="en-US" sz="1000" dirty="0"/>
          </a:p>
        </p:txBody>
      </p:sp>
      <p:sp>
        <p:nvSpPr>
          <p:cNvPr id="20" name="Shape 18"/>
          <p:cNvSpPr/>
          <p:nvPr/>
        </p:nvSpPr>
        <p:spPr>
          <a:xfrm>
            <a:off x="731520" y="4023360"/>
            <a:ext cx="3410712" cy="2057400"/>
          </a:xfrm>
          <a:prstGeom prst="roundRect">
            <a:avLst>
              <a:gd name="adj" fmla="val 6667"/>
            </a:avLst>
          </a:prstGeom>
          <a:solidFill>
            <a:srgbClr val="FFFFFF"/>
          </a:solidFill>
          <a:ln w="12700">
            <a:solidFill>
              <a:srgbClr val="E2E8F0"/>
            </a:solidFill>
            <a:prstDash val="solid"/>
          </a:ln>
        </p:spPr>
      </p:sp>
      <p:sp>
        <p:nvSpPr>
          <p:cNvPr id="21" name="Text 19"/>
          <p:cNvSpPr/>
          <p:nvPr/>
        </p:nvSpPr>
        <p:spPr>
          <a:xfrm>
            <a:off x="960120" y="4224528"/>
            <a:ext cx="2926080" cy="228600"/>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PRIVACY PRESERVED</a:t>
            </a:r>
            <a:endParaRPr lang="en-US" sz="800" dirty="0"/>
          </a:p>
        </p:txBody>
      </p:sp>
      <p:sp>
        <p:nvSpPr>
          <p:cNvPr id="22" name="Text 20"/>
          <p:cNvSpPr/>
          <p:nvPr/>
        </p:nvSpPr>
        <p:spPr>
          <a:xfrm>
            <a:off x="960120" y="4480560"/>
            <a:ext cx="292608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Contextual Geo-Awareness</a:t>
            </a:r>
            <a:endParaRPr lang="en-US" sz="1200" dirty="0"/>
          </a:p>
        </p:txBody>
      </p:sp>
      <p:sp>
        <p:nvSpPr>
          <p:cNvPr id="23" name="Text 21"/>
          <p:cNvSpPr/>
          <p:nvPr/>
        </p:nvSpPr>
        <p:spPr>
          <a:xfrm>
            <a:off x="960120" y="493776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Uses anonymous browser geolocation to map disease vectors to local agro-climatic zones and seasonal Kharif/Rabi cycles without tracking.</a:t>
            </a:r>
            <a:endParaRPr lang="en-US" sz="1000" dirty="0"/>
          </a:p>
        </p:txBody>
      </p:sp>
      <p:sp>
        <p:nvSpPr>
          <p:cNvPr id="24" name="Shape 22"/>
          <p:cNvSpPr/>
          <p:nvPr/>
        </p:nvSpPr>
        <p:spPr>
          <a:xfrm>
            <a:off x="4325112" y="4023360"/>
            <a:ext cx="3410712" cy="2057400"/>
          </a:xfrm>
          <a:prstGeom prst="roundRect">
            <a:avLst>
              <a:gd name="adj" fmla="val 6667"/>
            </a:avLst>
          </a:prstGeom>
          <a:solidFill>
            <a:srgbClr val="FFFFFF"/>
          </a:solidFill>
          <a:ln w="12700">
            <a:solidFill>
              <a:srgbClr val="E2E8F0"/>
            </a:solidFill>
            <a:prstDash val="solid"/>
          </a:ln>
        </p:spPr>
      </p:sp>
      <p:sp>
        <p:nvSpPr>
          <p:cNvPr id="25" name="Text 23"/>
          <p:cNvSpPr/>
          <p:nvPr/>
        </p:nvSpPr>
        <p:spPr>
          <a:xfrm>
            <a:off x="4553712" y="4224528"/>
            <a:ext cx="2926080" cy="228600"/>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TRUE INCLUSIVITY</a:t>
            </a:r>
            <a:endParaRPr lang="en-US" sz="800" dirty="0"/>
          </a:p>
        </p:txBody>
      </p:sp>
      <p:sp>
        <p:nvSpPr>
          <p:cNvPr id="26" name="Text 24"/>
          <p:cNvSpPr/>
          <p:nvPr/>
        </p:nvSpPr>
        <p:spPr>
          <a:xfrm>
            <a:off x="4553712" y="4480560"/>
            <a:ext cx="292608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7 Regional Spoken Languages</a:t>
            </a:r>
            <a:endParaRPr lang="en-US" sz="1200" dirty="0"/>
          </a:p>
        </p:txBody>
      </p:sp>
      <p:sp>
        <p:nvSpPr>
          <p:cNvPr id="27" name="Text 25"/>
          <p:cNvSpPr/>
          <p:nvPr/>
        </p:nvSpPr>
        <p:spPr>
          <a:xfrm>
            <a:off x="4553712" y="493776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Fluid voice conversations in English, Hindi, Kannada, Telugu, Tamil, Marathi, and Bengali. Farmers speak and listen in their native tongue.</a:t>
            </a:r>
            <a:endParaRPr lang="en-US" sz="1000" dirty="0"/>
          </a:p>
        </p:txBody>
      </p:sp>
      <p:sp>
        <p:nvSpPr>
          <p:cNvPr id="28" name="Shape 26"/>
          <p:cNvSpPr/>
          <p:nvPr/>
        </p:nvSpPr>
        <p:spPr>
          <a:xfrm>
            <a:off x="7918704" y="4023360"/>
            <a:ext cx="3410712" cy="2057400"/>
          </a:xfrm>
          <a:prstGeom prst="roundRect">
            <a:avLst>
              <a:gd name="adj" fmla="val 6667"/>
            </a:avLst>
          </a:prstGeom>
          <a:solidFill>
            <a:srgbClr val="FFFFFF"/>
          </a:solidFill>
          <a:ln w="12700">
            <a:solidFill>
              <a:srgbClr val="E2E8F0"/>
            </a:solidFill>
            <a:prstDash val="solid"/>
          </a:ln>
        </p:spPr>
      </p:sp>
      <p:sp>
        <p:nvSpPr>
          <p:cNvPr id="29" name="Text 27"/>
          <p:cNvSpPr/>
          <p:nvPr/>
        </p:nvSpPr>
        <p:spPr>
          <a:xfrm>
            <a:off x="8147304" y="4224528"/>
            <a:ext cx="2926080" cy="228600"/>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ZERO FRICTION</a:t>
            </a:r>
            <a:endParaRPr lang="en-US" sz="800" dirty="0"/>
          </a:p>
        </p:txBody>
      </p:sp>
      <p:sp>
        <p:nvSpPr>
          <p:cNvPr id="30" name="Text 28"/>
          <p:cNvSpPr/>
          <p:nvPr/>
        </p:nvSpPr>
        <p:spPr>
          <a:xfrm>
            <a:off x="8147304" y="4480560"/>
            <a:ext cx="2926080" cy="41148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Zero Barrier Web Access</a:t>
            </a:r>
            <a:endParaRPr lang="en-US" sz="1200" dirty="0"/>
          </a:p>
        </p:txBody>
      </p:sp>
      <p:sp>
        <p:nvSpPr>
          <p:cNvPr id="31" name="Text 29"/>
          <p:cNvSpPr/>
          <p:nvPr/>
        </p:nvSpPr>
        <p:spPr>
          <a:xfrm>
            <a:off x="8147304" y="493776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No app store download, no login, no passwords. Operates immediately on any smartphone browser in field conditions.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9669"/>
          </a:solidFill>
          <a:ln/>
        </p:spPr>
      </p:sp>
      <p:sp>
        <p:nvSpPr>
          <p:cNvPr id="3" name="Text 1"/>
          <p:cNvSpPr/>
          <p:nvPr/>
        </p:nvSpPr>
        <p:spPr>
          <a:xfrm>
            <a:off x="731520" y="411480"/>
            <a:ext cx="7315200" cy="274320"/>
          </a:xfrm>
          <a:prstGeom prst="rect">
            <a:avLst/>
          </a:prstGeom>
          <a:noFill/>
          <a:ln/>
        </p:spPr>
        <p:txBody>
          <a:bodyPr wrap="square" rtlCol="0" anchor="ctr"/>
          <a:lstStyle/>
          <a:p>
            <a:pPr indent="0" marL="0">
              <a:buNone/>
            </a:pPr>
            <a:r>
              <a:rPr lang="en-US" sz="1000" b="1" spc="200" kern="0" dirty="0">
                <a:solidFill>
                  <a:srgbClr val="059669"/>
                </a:solidFill>
                <a:latin typeface="Arial" pitchFamily="34" charset="0"/>
                <a:ea typeface="Arial" pitchFamily="34" charset="-122"/>
                <a:cs typeface="Arial" pitchFamily="34" charset="-120"/>
              </a:rPr>
              <a:t>REAL-WORLD IMPACT</a:t>
            </a:r>
            <a:endParaRPr lang="en-US" sz="1000" dirty="0"/>
          </a:p>
        </p:txBody>
      </p:sp>
      <p:sp>
        <p:nvSpPr>
          <p:cNvPr id="4" name="Text 2"/>
          <p:cNvSpPr/>
          <p:nvPr/>
        </p:nvSpPr>
        <p:spPr>
          <a:xfrm>
            <a:off x="731520" y="68580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Benefits &amp; Usage (2/2): Field Workflow &amp; Economic ROI</a:t>
            </a:r>
            <a:endParaRPr lang="en-US" sz="2400" dirty="0"/>
          </a:p>
        </p:txBody>
      </p:sp>
      <p:sp>
        <p:nvSpPr>
          <p:cNvPr id="5" name="Text 3"/>
          <p:cNvSpPr/>
          <p:nvPr/>
        </p:nvSpPr>
        <p:spPr>
          <a:xfrm>
            <a:off x="731520" y="1234440"/>
            <a:ext cx="10515600" cy="36576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How KisanDr creates quantifiable economic savings for farmers and protects national food security.</a:t>
            </a:r>
            <a:endParaRPr lang="en-US" sz="1200" dirty="0"/>
          </a:p>
        </p:txBody>
      </p:sp>
      <p:sp>
        <p:nvSpPr>
          <p:cNvPr id="6" name="Text 4"/>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KisanDr • AI Crop Disease Scanner &amp; Voice Assistant</a:t>
            </a:r>
            <a:endParaRPr lang="en-US" sz="900" dirty="0"/>
          </a:p>
        </p:txBody>
      </p:sp>
      <p:sp>
        <p:nvSpPr>
          <p:cNvPr id="7" name="Text 5"/>
          <p:cNvSpPr/>
          <p:nvPr/>
        </p:nvSpPr>
        <p:spPr>
          <a:xfrm>
            <a:off x="9601200" y="6446520"/>
            <a:ext cx="18288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Slide 5 of 7</a:t>
            </a:r>
            <a:endParaRPr lang="en-US" sz="900" dirty="0"/>
          </a:p>
        </p:txBody>
      </p:sp>
      <p:sp>
        <p:nvSpPr>
          <p:cNvPr id="8" name="Text 6"/>
          <p:cNvSpPr/>
          <p:nvPr/>
        </p:nvSpPr>
        <p:spPr>
          <a:xfrm>
            <a:off x="731520" y="1783080"/>
            <a:ext cx="4572000" cy="274320"/>
          </a:xfrm>
          <a:prstGeom prst="rect">
            <a:avLst/>
          </a:prstGeom>
          <a:noFill/>
          <a:ln/>
        </p:spPr>
        <p:txBody>
          <a:bodyPr wrap="square" rtlCol="0" anchor="ctr"/>
          <a:lstStyle/>
          <a:p>
            <a:pPr indent="0" marL="0">
              <a:buNone/>
            </a:pPr>
            <a:r>
              <a:rPr lang="en-US" sz="1000" b="1" spc="100" kern="0" dirty="0">
                <a:solidFill>
                  <a:srgbClr val="059669"/>
                </a:solidFill>
                <a:latin typeface="Arial" pitchFamily="34" charset="0"/>
                <a:ea typeface="Arial" pitchFamily="34" charset="-122"/>
                <a:cs typeface="Arial" pitchFamily="34" charset="-120"/>
              </a:rPr>
              <a:t>3-STEP FARMER WORKFLOW</a:t>
            </a:r>
            <a:endParaRPr lang="en-US" sz="1000" dirty="0"/>
          </a:p>
        </p:txBody>
      </p:sp>
      <p:sp>
        <p:nvSpPr>
          <p:cNvPr id="9" name="Shape 7"/>
          <p:cNvSpPr/>
          <p:nvPr/>
        </p:nvSpPr>
        <p:spPr>
          <a:xfrm>
            <a:off x="731520" y="2103120"/>
            <a:ext cx="3410712" cy="1783080"/>
          </a:xfrm>
          <a:prstGeom prst="roundRect">
            <a:avLst>
              <a:gd name="adj" fmla="val 7692"/>
            </a:avLst>
          </a:prstGeom>
          <a:solidFill>
            <a:srgbClr val="FFFFFF"/>
          </a:solidFill>
          <a:ln w="12700">
            <a:solidFill>
              <a:srgbClr val="E2E8F0"/>
            </a:solidFill>
            <a:prstDash val="solid"/>
          </a:ln>
        </p:spPr>
      </p:sp>
      <p:sp>
        <p:nvSpPr>
          <p:cNvPr id="10" name="Text 8"/>
          <p:cNvSpPr/>
          <p:nvPr/>
        </p:nvSpPr>
        <p:spPr>
          <a:xfrm>
            <a:off x="960120" y="2286000"/>
            <a:ext cx="914400" cy="365760"/>
          </a:xfrm>
          <a:prstGeom prst="rect">
            <a:avLst/>
          </a:prstGeom>
          <a:noFill/>
          <a:ln/>
        </p:spPr>
        <p:txBody>
          <a:bodyPr wrap="square" rtlCol="0" anchor="ctr"/>
          <a:lstStyle/>
          <a:p>
            <a:pPr indent="0" marL="0">
              <a:buNone/>
            </a:pPr>
            <a:r>
              <a:rPr lang="en-US" sz="1800" b="1" dirty="0">
                <a:solidFill>
                  <a:srgbClr val="059669"/>
                </a:solidFill>
                <a:latin typeface="Arial" pitchFamily="34" charset="0"/>
                <a:ea typeface="Arial" pitchFamily="34" charset="-122"/>
                <a:cs typeface="Arial" pitchFamily="34" charset="-120"/>
              </a:rPr>
              <a:t>01</a:t>
            </a:r>
            <a:endParaRPr lang="en-US" sz="1800" dirty="0"/>
          </a:p>
        </p:txBody>
      </p:sp>
      <p:sp>
        <p:nvSpPr>
          <p:cNvPr id="11" name="Text 9"/>
          <p:cNvSpPr/>
          <p:nvPr/>
        </p:nvSpPr>
        <p:spPr>
          <a:xfrm>
            <a:off x="1508760" y="2304288"/>
            <a:ext cx="2377440" cy="3200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Scan Plant in Field</a:t>
            </a:r>
            <a:endParaRPr lang="en-US" sz="1200" dirty="0"/>
          </a:p>
        </p:txBody>
      </p:sp>
      <p:sp>
        <p:nvSpPr>
          <p:cNvPr id="12" name="Text 10"/>
          <p:cNvSpPr/>
          <p:nvPr/>
        </p:nvSpPr>
        <p:spPr>
          <a:xfrm>
            <a:off x="960120" y="269748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Farmer takes a photo with their phone camera or uploads an existing image. Browser auto-detects season &amp; region.</a:t>
            </a:r>
            <a:endParaRPr lang="en-US" sz="1000" dirty="0"/>
          </a:p>
        </p:txBody>
      </p:sp>
      <p:sp>
        <p:nvSpPr>
          <p:cNvPr id="13" name="Shape 11"/>
          <p:cNvSpPr/>
          <p:nvPr/>
        </p:nvSpPr>
        <p:spPr>
          <a:xfrm>
            <a:off x="4325112" y="2103120"/>
            <a:ext cx="3410712" cy="1783080"/>
          </a:xfrm>
          <a:prstGeom prst="roundRect">
            <a:avLst>
              <a:gd name="adj" fmla="val 7692"/>
            </a:avLst>
          </a:prstGeom>
          <a:solidFill>
            <a:srgbClr val="FFFFFF"/>
          </a:solidFill>
          <a:ln w="12700">
            <a:solidFill>
              <a:srgbClr val="E2E8F0"/>
            </a:solidFill>
            <a:prstDash val="solid"/>
          </a:ln>
        </p:spPr>
      </p:sp>
      <p:sp>
        <p:nvSpPr>
          <p:cNvPr id="14" name="Text 12"/>
          <p:cNvSpPr/>
          <p:nvPr/>
        </p:nvSpPr>
        <p:spPr>
          <a:xfrm>
            <a:off x="4553712" y="2286000"/>
            <a:ext cx="914400" cy="365760"/>
          </a:xfrm>
          <a:prstGeom prst="rect">
            <a:avLst/>
          </a:prstGeom>
          <a:noFill/>
          <a:ln/>
        </p:spPr>
        <p:txBody>
          <a:bodyPr wrap="square" rtlCol="0" anchor="ctr"/>
          <a:lstStyle/>
          <a:p>
            <a:pPr indent="0" marL="0">
              <a:buNone/>
            </a:pPr>
            <a:r>
              <a:rPr lang="en-US" sz="1800" b="1" dirty="0">
                <a:solidFill>
                  <a:srgbClr val="059669"/>
                </a:solidFill>
                <a:latin typeface="Arial" pitchFamily="34" charset="0"/>
                <a:ea typeface="Arial" pitchFamily="34" charset="-122"/>
                <a:cs typeface="Arial" pitchFamily="34" charset="-120"/>
              </a:rPr>
              <a:t>02</a:t>
            </a:r>
            <a:endParaRPr lang="en-US" sz="1800" dirty="0"/>
          </a:p>
        </p:txBody>
      </p:sp>
      <p:sp>
        <p:nvSpPr>
          <p:cNvPr id="15" name="Text 13"/>
          <p:cNvSpPr/>
          <p:nvPr/>
        </p:nvSpPr>
        <p:spPr>
          <a:xfrm>
            <a:off x="5102352" y="2304288"/>
            <a:ext cx="2377440" cy="3200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Instant AI Diagnosis</a:t>
            </a:r>
            <a:endParaRPr lang="en-US" sz="1200" dirty="0"/>
          </a:p>
        </p:txBody>
      </p:sp>
      <p:sp>
        <p:nvSpPr>
          <p:cNvPr id="16" name="Text 14"/>
          <p:cNvSpPr/>
          <p:nvPr/>
        </p:nvSpPr>
        <p:spPr>
          <a:xfrm>
            <a:off x="4553712" y="269748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Multimodal vision model generates clear report: crop type, pathogen name, severity, visible symptoms &amp; immediate steps.</a:t>
            </a:r>
            <a:endParaRPr lang="en-US" sz="1000" dirty="0"/>
          </a:p>
        </p:txBody>
      </p:sp>
      <p:sp>
        <p:nvSpPr>
          <p:cNvPr id="17" name="Shape 15"/>
          <p:cNvSpPr/>
          <p:nvPr/>
        </p:nvSpPr>
        <p:spPr>
          <a:xfrm>
            <a:off x="7918704" y="2103120"/>
            <a:ext cx="3410712" cy="1783080"/>
          </a:xfrm>
          <a:prstGeom prst="roundRect">
            <a:avLst>
              <a:gd name="adj" fmla="val 7692"/>
            </a:avLst>
          </a:prstGeom>
          <a:solidFill>
            <a:srgbClr val="FFFFFF"/>
          </a:solidFill>
          <a:ln w="12700">
            <a:solidFill>
              <a:srgbClr val="E2E8F0"/>
            </a:solidFill>
            <a:prstDash val="solid"/>
          </a:ln>
        </p:spPr>
      </p:sp>
      <p:sp>
        <p:nvSpPr>
          <p:cNvPr id="18" name="Text 16"/>
          <p:cNvSpPr/>
          <p:nvPr/>
        </p:nvSpPr>
        <p:spPr>
          <a:xfrm>
            <a:off x="8147304" y="2286000"/>
            <a:ext cx="914400" cy="365760"/>
          </a:xfrm>
          <a:prstGeom prst="rect">
            <a:avLst/>
          </a:prstGeom>
          <a:noFill/>
          <a:ln/>
        </p:spPr>
        <p:txBody>
          <a:bodyPr wrap="square" rtlCol="0" anchor="ctr"/>
          <a:lstStyle/>
          <a:p>
            <a:pPr indent="0" marL="0">
              <a:buNone/>
            </a:pPr>
            <a:r>
              <a:rPr lang="en-US" sz="1800" b="1" dirty="0">
                <a:solidFill>
                  <a:srgbClr val="059669"/>
                </a:solidFill>
                <a:latin typeface="Arial" pitchFamily="34" charset="0"/>
                <a:ea typeface="Arial" pitchFamily="34" charset="-122"/>
                <a:cs typeface="Arial" pitchFamily="34" charset="-120"/>
              </a:rPr>
              <a:t>03</a:t>
            </a:r>
            <a:endParaRPr lang="en-US" sz="1800" dirty="0"/>
          </a:p>
        </p:txBody>
      </p:sp>
      <p:sp>
        <p:nvSpPr>
          <p:cNvPr id="19" name="Text 17"/>
          <p:cNvSpPr/>
          <p:nvPr/>
        </p:nvSpPr>
        <p:spPr>
          <a:xfrm>
            <a:off x="8695944" y="2304288"/>
            <a:ext cx="2377440" cy="3200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Hands-Free Voice Q&amp;A</a:t>
            </a:r>
            <a:endParaRPr lang="en-US" sz="1200" dirty="0"/>
          </a:p>
        </p:txBody>
      </p:sp>
      <p:sp>
        <p:nvSpPr>
          <p:cNvPr id="20" name="Text 18"/>
          <p:cNvSpPr/>
          <p:nvPr/>
        </p:nvSpPr>
        <p:spPr>
          <a:xfrm>
            <a:off x="8147304" y="2697480"/>
            <a:ext cx="2926080" cy="100584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Farmer speaks naturally in their mother tongue ("Is it dangerous?", "What spray should I use?") and gets instant verbal guidance.</a:t>
            </a:r>
            <a:endParaRPr lang="en-US" sz="1000" dirty="0"/>
          </a:p>
        </p:txBody>
      </p:sp>
      <p:sp>
        <p:nvSpPr>
          <p:cNvPr id="21" name="Text 19"/>
          <p:cNvSpPr/>
          <p:nvPr/>
        </p:nvSpPr>
        <p:spPr>
          <a:xfrm>
            <a:off x="731520" y="4069080"/>
            <a:ext cx="5486400" cy="274320"/>
          </a:xfrm>
          <a:prstGeom prst="rect">
            <a:avLst/>
          </a:prstGeom>
          <a:noFill/>
          <a:ln/>
        </p:spPr>
        <p:txBody>
          <a:bodyPr wrap="square" rtlCol="0" anchor="ctr"/>
          <a:lstStyle/>
          <a:p>
            <a:pPr indent="0" marL="0">
              <a:buNone/>
            </a:pPr>
            <a:r>
              <a:rPr lang="en-US" sz="1000" b="1" spc="100" kern="0" dirty="0">
                <a:solidFill>
                  <a:srgbClr val="059669"/>
                </a:solidFill>
                <a:latin typeface="Arial" pitchFamily="34" charset="0"/>
                <a:ea typeface="Arial" pitchFamily="34" charset="-122"/>
                <a:cs typeface="Arial" pitchFamily="34" charset="-120"/>
              </a:rPr>
              <a:t>MEASURABLE ECONOMIC &amp; SOCIAL ROI</a:t>
            </a:r>
            <a:endParaRPr lang="en-US" sz="1000" dirty="0"/>
          </a:p>
        </p:txBody>
      </p:sp>
      <p:sp>
        <p:nvSpPr>
          <p:cNvPr id="22" name="Shape 20"/>
          <p:cNvSpPr/>
          <p:nvPr/>
        </p:nvSpPr>
        <p:spPr>
          <a:xfrm>
            <a:off x="731520" y="4389120"/>
            <a:ext cx="2514600" cy="1783080"/>
          </a:xfrm>
          <a:prstGeom prst="roundRect">
            <a:avLst>
              <a:gd name="adj" fmla="val 7692"/>
            </a:avLst>
          </a:prstGeom>
          <a:solidFill>
            <a:srgbClr val="064E3B"/>
          </a:solidFill>
          <a:ln/>
        </p:spPr>
      </p:sp>
      <p:sp>
        <p:nvSpPr>
          <p:cNvPr id="23" name="Text 21"/>
          <p:cNvSpPr/>
          <p:nvPr/>
        </p:nvSpPr>
        <p:spPr>
          <a:xfrm>
            <a:off x="914400" y="4526280"/>
            <a:ext cx="2148840" cy="411480"/>
          </a:xfrm>
          <a:prstGeom prst="rect">
            <a:avLst/>
          </a:prstGeom>
          <a:noFill/>
          <a:ln/>
        </p:spPr>
        <p:txBody>
          <a:bodyPr wrap="square" rtlCol="0" anchor="ctr"/>
          <a:lstStyle/>
          <a:p>
            <a:pPr indent="0" marL="0">
              <a:buNone/>
            </a:pPr>
            <a:r>
              <a:rPr lang="en-US" sz="1600" b="1" dirty="0">
                <a:solidFill>
                  <a:srgbClr val="6EE7B7"/>
                </a:solidFill>
                <a:latin typeface="Arial" pitchFamily="34" charset="0"/>
                <a:ea typeface="Arial" pitchFamily="34" charset="-122"/>
                <a:cs typeface="Arial" pitchFamily="34" charset="-120"/>
              </a:rPr>
              <a:t>35% - 50%</a:t>
            </a:r>
            <a:endParaRPr lang="en-US" sz="1600" dirty="0"/>
          </a:p>
        </p:txBody>
      </p:sp>
      <p:sp>
        <p:nvSpPr>
          <p:cNvPr id="24" name="Text 22"/>
          <p:cNvSpPr/>
          <p:nvPr/>
        </p:nvSpPr>
        <p:spPr>
          <a:xfrm>
            <a:off x="914400" y="4937760"/>
            <a:ext cx="214884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Crop Salvaged</a:t>
            </a:r>
            <a:endParaRPr lang="en-US" sz="1100" dirty="0"/>
          </a:p>
        </p:txBody>
      </p:sp>
      <p:sp>
        <p:nvSpPr>
          <p:cNvPr id="25" name="Text 23"/>
          <p:cNvSpPr/>
          <p:nvPr/>
        </p:nvSpPr>
        <p:spPr>
          <a:xfrm>
            <a:off x="914400" y="5257800"/>
            <a:ext cx="2148840" cy="777240"/>
          </a:xfrm>
          <a:prstGeom prst="rect">
            <a:avLst/>
          </a:prstGeom>
          <a:noFill/>
          <a:ln/>
        </p:spPr>
        <p:txBody>
          <a:bodyPr wrap="square" rtlCol="0" anchor="ctr"/>
          <a:lstStyle/>
          <a:p>
            <a:pPr indent="0" marL="0">
              <a:lnSpc>
                <a:spcPts val="1300"/>
              </a:lnSpc>
              <a:buNone/>
            </a:pPr>
            <a:r>
              <a:rPr lang="en-US" sz="900" dirty="0">
                <a:solidFill>
                  <a:srgbClr val="D1FAE5"/>
                </a:solidFill>
                <a:latin typeface="Arial" pitchFamily="34" charset="0"/>
                <a:ea typeface="Arial" pitchFamily="34" charset="-122"/>
                <a:cs typeface="Arial" pitchFamily="34" charset="-120"/>
              </a:rPr>
              <a:t>Early stage detection halts blight contagion before irreversible crop loss occurs.</a:t>
            </a:r>
            <a:endParaRPr lang="en-US" sz="900" dirty="0"/>
          </a:p>
        </p:txBody>
      </p:sp>
      <p:sp>
        <p:nvSpPr>
          <p:cNvPr id="26" name="Shape 24"/>
          <p:cNvSpPr/>
          <p:nvPr/>
        </p:nvSpPr>
        <p:spPr>
          <a:xfrm>
            <a:off x="3429000" y="4389120"/>
            <a:ext cx="2514600" cy="1783080"/>
          </a:xfrm>
          <a:prstGeom prst="roundRect">
            <a:avLst>
              <a:gd name="adj" fmla="val 7692"/>
            </a:avLst>
          </a:prstGeom>
          <a:solidFill>
            <a:srgbClr val="064E3B"/>
          </a:solidFill>
          <a:ln/>
        </p:spPr>
      </p:sp>
      <p:sp>
        <p:nvSpPr>
          <p:cNvPr id="27" name="Text 25"/>
          <p:cNvSpPr/>
          <p:nvPr/>
        </p:nvSpPr>
        <p:spPr>
          <a:xfrm>
            <a:off x="3611880" y="4526280"/>
            <a:ext cx="2148840" cy="411480"/>
          </a:xfrm>
          <a:prstGeom prst="rect">
            <a:avLst/>
          </a:prstGeom>
          <a:noFill/>
          <a:ln/>
        </p:spPr>
        <p:txBody>
          <a:bodyPr wrap="square" rtlCol="0" anchor="ctr"/>
          <a:lstStyle/>
          <a:p>
            <a:pPr indent="0" marL="0">
              <a:buNone/>
            </a:pPr>
            <a:r>
              <a:rPr lang="en-US" sz="1600" b="1" dirty="0">
                <a:solidFill>
                  <a:srgbClr val="6EE7B7"/>
                </a:solidFill>
                <a:latin typeface="Arial" pitchFamily="34" charset="0"/>
                <a:ea typeface="Arial" pitchFamily="34" charset="-122"/>
                <a:cs typeface="Arial" pitchFamily="34" charset="-120"/>
              </a:rPr>
              <a:t>₹4,000 - ₹9,000</a:t>
            </a:r>
            <a:endParaRPr lang="en-US" sz="1600" dirty="0"/>
          </a:p>
        </p:txBody>
      </p:sp>
      <p:sp>
        <p:nvSpPr>
          <p:cNvPr id="28" name="Text 26"/>
          <p:cNvSpPr/>
          <p:nvPr/>
        </p:nvSpPr>
        <p:spPr>
          <a:xfrm>
            <a:off x="3611880" y="4937760"/>
            <a:ext cx="214884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Input Cost Savings</a:t>
            </a:r>
            <a:endParaRPr lang="en-US" sz="1100" dirty="0"/>
          </a:p>
        </p:txBody>
      </p:sp>
      <p:sp>
        <p:nvSpPr>
          <p:cNvPr id="29" name="Text 27"/>
          <p:cNvSpPr/>
          <p:nvPr/>
        </p:nvSpPr>
        <p:spPr>
          <a:xfrm>
            <a:off x="3611880" y="5257800"/>
            <a:ext cx="2148840" cy="777240"/>
          </a:xfrm>
          <a:prstGeom prst="rect">
            <a:avLst/>
          </a:prstGeom>
          <a:noFill/>
          <a:ln/>
        </p:spPr>
        <p:txBody>
          <a:bodyPr wrap="square" rtlCol="0" anchor="ctr"/>
          <a:lstStyle/>
          <a:p>
            <a:pPr indent="0" marL="0">
              <a:lnSpc>
                <a:spcPts val="1300"/>
              </a:lnSpc>
              <a:buNone/>
            </a:pPr>
            <a:r>
              <a:rPr lang="en-US" sz="900" dirty="0">
                <a:solidFill>
                  <a:srgbClr val="D1FAE5"/>
                </a:solidFill>
                <a:latin typeface="Arial" pitchFamily="34" charset="0"/>
                <a:ea typeface="Arial" pitchFamily="34" charset="-122"/>
                <a:cs typeface="Arial" pitchFamily="34" charset="-120"/>
              </a:rPr>
              <a:t>Eliminates wasteful purchases of unneeded broad-spectrum pesticides &amp; fungicides.</a:t>
            </a:r>
            <a:endParaRPr lang="en-US" sz="900" dirty="0"/>
          </a:p>
        </p:txBody>
      </p:sp>
      <p:sp>
        <p:nvSpPr>
          <p:cNvPr id="30" name="Shape 28"/>
          <p:cNvSpPr/>
          <p:nvPr/>
        </p:nvSpPr>
        <p:spPr>
          <a:xfrm>
            <a:off x="6126480" y="4389120"/>
            <a:ext cx="2514600" cy="1783080"/>
          </a:xfrm>
          <a:prstGeom prst="roundRect">
            <a:avLst>
              <a:gd name="adj" fmla="val 7692"/>
            </a:avLst>
          </a:prstGeom>
          <a:solidFill>
            <a:srgbClr val="064E3B"/>
          </a:solidFill>
          <a:ln/>
        </p:spPr>
      </p:sp>
      <p:sp>
        <p:nvSpPr>
          <p:cNvPr id="31" name="Text 29"/>
          <p:cNvSpPr/>
          <p:nvPr/>
        </p:nvSpPr>
        <p:spPr>
          <a:xfrm>
            <a:off x="6309360" y="4526280"/>
            <a:ext cx="2148840" cy="411480"/>
          </a:xfrm>
          <a:prstGeom prst="rect">
            <a:avLst/>
          </a:prstGeom>
          <a:noFill/>
          <a:ln/>
        </p:spPr>
        <p:txBody>
          <a:bodyPr wrap="square" rtlCol="0" anchor="ctr"/>
          <a:lstStyle/>
          <a:p>
            <a:pPr indent="0" marL="0">
              <a:buNone/>
            </a:pPr>
            <a:r>
              <a:rPr lang="en-US" sz="1600" b="1" dirty="0">
                <a:solidFill>
                  <a:srgbClr val="6EE7B7"/>
                </a:solidFill>
                <a:latin typeface="Arial" pitchFamily="34" charset="0"/>
                <a:ea typeface="Arial" pitchFamily="34" charset="-122"/>
                <a:cs typeface="Arial" pitchFamily="34" charset="-120"/>
              </a:rPr>
              <a:t>Zero Seconds</a:t>
            </a:r>
            <a:endParaRPr lang="en-US" sz="1600" dirty="0"/>
          </a:p>
        </p:txBody>
      </p:sp>
      <p:sp>
        <p:nvSpPr>
          <p:cNvPr id="32" name="Text 30"/>
          <p:cNvSpPr/>
          <p:nvPr/>
        </p:nvSpPr>
        <p:spPr>
          <a:xfrm>
            <a:off x="6309360" y="4937760"/>
            <a:ext cx="214884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Instant Access</a:t>
            </a:r>
            <a:endParaRPr lang="en-US" sz="1100" dirty="0"/>
          </a:p>
        </p:txBody>
      </p:sp>
      <p:sp>
        <p:nvSpPr>
          <p:cNvPr id="33" name="Text 31"/>
          <p:cNvSpPr/>
          <p:nvPr/>
        </p:nvSpPr>
        <p:spPr>
          <a:xfrm>
            <a:off x="6309360" y="5257800"/>
            <a:ext cx="2148840" cy="777240"/>
          </a:xfrm>
          <a:prstGeom prst="rect">
            <a:avLst/>
          </a:prstGeom>
          <a:noFill/>
          <a:ln/>
        </p:spPr>
        <p:txBody>
          <a:bodyPr wrap="square" rtlCol="0" anchor="ctr"/>
          <a:lstStyle/>
          <a:p>
            <a:pPr indent="0" marL="0">
              <a:lnSpc>
                <a:spcPts val="1300"/>
              </a:lnSpc>
              <a:buNone/>
            </a:pPr>
            <a:r>
              <a:rPr lang="en-US" sz="900" dirty="0">
                <a:solidFill>
                  <a:srgbClr val="D1FAE5"/>
                </a:solidFill>
                <a:latin typeface="Arial" pitchFamily="34" charset="0"/>
                <a:ea typeface="Arial" pitchFamily="34" charset="-122"/>
                <a:cs typeface="Arial" pitchFamily="34" charset="-120"/>
              </a:rPr>
              <a:t>Eliminates technical barriers: no app store login or registration delays in the field.</a:t>
            </a:r>
            <a:endParaRPr lang="en-US" sz="900" dirty="0"/>
          </a:p>
        </p:txBody>
      </p:sp>
      <p:sp>
        <p:nvSpPr>
          <p:cNvPr id="34" name="Shape 32"/>
          <p:cNvSpPr/>
          <p:nvPr/>
        </p:nvSpPr>
        <p:spPr>
          <a:xfrm>
            <a:off x="8823960" y="4389120"/>
            <a:ext cx="2514600" cy="1783080"/>
          </a:xfrm>
          <a:prstGeom prst="roundRect">
            <a:avLst>
              <a:gd name="adj" fmla="val 7692"/>
            </a:avLst>
          </a:prstGeom>
          <a:solidFill>
            <a:srgbClr val="064E3B"/>
          </a:solidFill>
          <a:ln/>
        </p:spPr>
      </p:sp>
      <p:sp>
        <p:nvSpPr>
          <p:cNvPr id="35" name="Text 33"/>
          <p:cNvSpPr/>
          <p:nvPr/>
        </p:nvSpPr>
        <p:spPr>
          <a:xfrm>
            <a:off x="9006840" y="4526280"/>
            <a:ext cx="2148840" cy="411480"/>
          </a:xfrm>
          <a:prstGeom prst="rect">
            <a:avLst/>
          </a:prstGeom>
          <a:noFill/>
          <a:ln/>
        </p:spPr>
        <p:txBody>
          <a:bodyPr wrap="square" rtlCol="0" anchor="ctr"/>
          <a:lstStyle/>
          <a:p>
            <a:pPr indent="0" marL="0">
              <a:buNone/>
            </a:pPr>
            <a:r>
              <a:rPr lang="en-US" sz="1600" b="1" dirty="0">
                <a:solidFill>
                  <a:srgbClr val="6EE7B7"/>
                </a:solidFill>
                <a:latin typeface="Arial" pitchFamily="34" charset="0"/>
                <a:ea typeface="Arial" pitchFamily="34" charset="-122"/>
                <a:cs typeface="Arial" pitchFamily="34" charset="-120"/>
              </a:rPr>
              <a:t>7 Languages</a:t>
            </a:r>
            <a:endParaRPr lang="en-US" sz="1600" dirty="0"/>
          </a:p>
        </p:txBody>
      </p:sp>
      <p:sp>
        <p:nvSpPr>
          <p:cNvPr id="36" name="Text 34"/>
          <p:cNvSpPr/>
          <p:nvPr/>
        </p:nvSpPr>
        <p:spPr>
          <a:xfrm>
            <a:off x="9006840" y="4937760"/>
            <a:ext cx="214884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Vernacular Reach</a:t>
            </a:r>
            <a:endParaRPr lang="en-US" sz="1100" dirty="0"/>
          </a:p>
        </p:txBody>
      </p:sp>
      <p:sp>
        <p:nvSpPr>
          <p:cNvPr id="37" name="Text 35"/>
          <p:cNvSpPr/>
          <p:nvPr/>
        </p:nvSpPr>
        <p:spPr>
          <a:xfrm>
            <a:off x="9006840" y="5257800"/>
            <a:ext cx="2148840" cy="777240"/>
          </a:xfrm>
          <a:prstGeom prst="rect">
            <a:avLst/>
          </a:prstGeom>
          <a:noFill/>
          <a:ln/>
        </p:spPr>
        <p:txBody>
          <a:bodyPr wrap="square" rtlCol="0" anchor="ctr"/>
          <a:lstStyle/>
          <a:p>
            <a:pPr indent="0" marL="0">
              <a:lnSpc>
                <a:spcPts val="1300"/>
              </a:lnSpc>
              <a:buNone/>
            </a:pPr>
            <a:r>
              <a:rPr lang="en-US" sz="900" dirty="0">
                <a:solidFill>
                  <a:srgbClr val="D1FAE5"/>
                </a:solidFill>
                <a:latin typeface="Arial" pitchFamily="34" charset="0"/>
                <a:ea typeface="Arial" pitchFamily="34" charset="-122"/>
                <a:cs typeface="Arial" pitchFamily="34" charset="-120"/>
              </a:rPr>
              <a:t>Directly addresses rural literacy disparities through spoken voice interaction.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59669"/>
          </a:solidFill>
          <a:ln/>
        </p:spPr>
      </p:sp>
      <p:sp>
        <p:nvSpPr>
          <p:cNvPr id="3" name="Text 1"/>
          <p:cNvSpPr/>
          <p:nvPr/>
        </p:nvSpPr>
        <p:spPr>
          <a:xfrm>
            <a:off x="731520" y="411480"/>
            <a:ext cx="7315200" cy="274320"/>
          </a:xfrm>
          <a:prstGeom prst="rect">
            <a:avLst/>
          </a:prstGeom>
          <a:noFill/>
          <a:ln/>
        </p:spPr>
        <p:txBody>
          <a:bodyPr wrap="square" rtlCol="0" anchor="ctr"/>
          <a:lstStyle/>
          <a:p>
            <a:pPr indent="0" marL="0">
              <a:buNone/>
            </a:pPr>
            <a:r>
              <a:rPr lang="en-US" sz="1000" b="1" spc="200" kern="0" dirty="0">
                <a:solidFill>
                  <a:srgbClr val="059669"/>
                </a:solidFill>
                <a:latin typeface="Arial" pitchFamily="34" charset="0"/>
                <a:ea typeface="Arial" pitchFamily="34" charset="-122"/>
                <a:cs typeface="Arial" pitchFamily="34" charset="-120"/>
              </a:rPr>
              <a:t>SYSTEM ARCHITECTURE</a:t>
            </a:r>
            <a:endParaRPr lang="en-US" sz="1000" dirty="0"/>
          </a:p>
        </p:txBody>
      </p:sp>
      <p:sp>
        <p:nvSpPr>
          <p:cNvPr id="4" name="Text 2"/>
          <p:cNvSpPr/>
          <p:nvPr/>
        </p:nvSpPr>
        <p:spPr>
          <a:xfrm>
            <a:off x="731520" y="685800"/>
            <a:ext cx="10515600" cy="59436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Tech Stack: Modern Full-Stack &amp; Multimodal Pipeline</a:t>
            </a:r>
            <a:endParaRPr lang="en-US" sz="2400" dirty="0"/>
          </a:p>
        </p:txBody>
      </p:sp>
      <p:sp>
        <p:nvSpPr>
          <p:cNvPr id="5" name="Text 3"/>
          <p:cNvSpPr/>
          <p:nvPr/>
        </p:nvSpPr>
        <p:spPr>
          <a:xfrm>
            <a:off x="731520" y="1234440"/>
            <a:ext cx="10515600" cy="36576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High-performance, zero-latency cloud architecture designed for responsive mobile browser performance.</a:t>
            </a:r>
            <a:endParaRPr lang="en-US" sz="1200" dirty="0"/>
          </a:p>
        </p:txBody>
      </p:sp>
      <p:sp>
        <p:nvSpPr>
          <p:cNvPr id="6" name="Text 4"/>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KisanDr • AI Crop Disease Scanner &amp; Voice Assistant</a:t>
            </a:r>
            <a:endParaRPr lang="en-US" sz="900" dirty="0"/>
          </a:p>
        </p:txBody>
      </p:sp>
      <p:sp>
        <p:nvSpPr>
          <p:cNvPr id="7" name="Text 5"/>
          <p:cNvSpPr/>
          <p:nvPr/>
        </p:nvSpPr>
        <p:spPr>
          <a:xfrm>
            <a:off x="9601200" y="6446520"/>
            <a:ext cx="182880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Slide 6 of 7</a:t>
            </a:r>
            <a:endParaRPr lang="en-US" sz="900" dirty="0"/>
          </a:p>
        </p:txBody>
      </p:sp>
      <p:sp>
        <p:nvSpPr>
          <p:cNvPr id="8" name="Shape 6"/>
          <p:cNvSpPr/>
          <p:nvPr/>
        </p:nvSpPr>
        <p:spPr>
          <a:xfrm>
            <a:off x="731520" y="1783080"/>
            <a:ext cx="5120640" cy="2057400"/>
          </a:xfrm>
          <a:prstGeom prst="roundRect">
            <a:avLst>
              <a:gd name="adj" fmla="val 6667"/>
            </a:avLst>
          </a:prstGeom>
          <a:solidFill>
            <a:srgbClr val="FFFFFF"/>
          </a:solidFill>
          <a:ln w="12700">
            <a:solidFill>
              <a:srgbClr val="E2E8F0"/>
            </a:solidFill>
            <a:prstDash val="solid"/>
          </a:ln>
        </p:spPr>
      </p:sp>
      <p:sp>
        <p:nvSpPr>
          <p:cNvPr id="9" name="Text 7"/>
          <p:cNvSpPr/>
          <p:nvPr/>
        </p:nvSpPr>
        <p:spPr>
          <a:xfrm>
            <a:off x="1005840" y="1965960"/>
            <a:ext cx="4572000" cy="228600"/>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FRONTEND CLIENT LAYER</a:t>
            </a:r>
            <a:endParaRPr lang="en-US" sz="900" dirty="0"/>
          </a:p>
        </p:txBody>
      </p:sp>
      <p:sp>
        <p:nvSpPr>
          <p:cNvPr id="10" name="Text 8"/>
          <p:cNvSpPr/>
          <p:nvPr/>
        </p:nvSpPr>
        <p:spPr>
          <a:xfrm>
            <a:off x="1005840" y="2194560"/>
            <a:ext cx="4572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React 19 + TypeScript + Tailwind CSS</a:t>
            </a:r>
            <a:endParaRPr lang="en-US" sz="1300" dirty="0"/>
          </a:p>
        </p:txBody>
      </p:sp>
      <p:sp>
        <p:nvSpPr>
          <p:cNvPr id="11" name="Text 9"/>
          <p:cNvSpPr/>
          <p:nvPr/>
        </p:nvSpPr>
        <p:spPr>
          <a:xfrm>
            <a:off x="1005840" y="2560320"/>
            <a:ext cx="4572000" cy="114300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 Responsive mobile-first single page app built on modern Vite bundling</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Tailwind CSS v4 for clean, high-contrast field visibility in sunlight</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HTML5 MediaDevices Camera API with dual back/front camera viewfinder</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Web Audio API &amp; Web Speech API for seamless in-browser voice recognition</a:t>
            </a:r>
            <a:endParaRPr lang="en-US" sz="1000" dirty="0"/>
          </a:p>
        </p:txBody>
      </p:sp>
      <p:sp>
        <p:nvSpPr>
          <p:cNvPr id="12" name="Shape 10"/>
          <p:cNvSpPr/>
          <p:nvPr/>
        </p:nvSpPr>
        <p:spPr>
          <a:xfrm>
            <a:off x="6126480" y="1783080"/>
            <a:ext cx="5120640" cy="2057400"/>
          </a:xfrm>
          <a:prstGeom prst="roundRect">
            <a:avLst>
              <a:gd name="adj" fmla="val 6667"/>
            </a:avLst>
          </a:prstGeom>
          <a:solidFill>
            <a:srgbClr val="FFFFFF"/>
          </a:solidFill>
          <a:ln w="12700">
            <a:solidFill>
              <a:srgbClr val="E2E8F0"/>
            </a:solidFill>
            <a:prstDash val="solid"/>
          </a:ln>
        </p:spPr>
      </p:sp>
      <p:sp>
        <p:nvSpPr>
          <p:cNvPr id="13" name="Text 11"/>
          <p:cNvSpPr/>
          <p:nvPr/>
        </p:nvSpPr>
        <p:spPr>
          <a:xfrm>
            <a:off x="6400800" y="1965960"/>
            <a:ext cx="4572000" cy="228600"/>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MULTIMODAL AI &amp; VISION LAYER</a:t>
            </a:r>
            <a:endParaRPr lang="en-US" sz="900" dirty="0"/>
          </a:p>
        </p:txBody>
      </p:sp>
      <p:sp>
        <p:nvSpPr>
          <p:cNvPr id="14" name="Text 12"/>
          <p:cNvSpPr/>
          <p:nvPr/>
        </p:nvSpPr>
        <p:spPr>
          <a:xfrm>
            <a:off x="6400800" y="2194560"/>
            <a:ext cx="4572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Google GenAI SDK &amp; Gemini Multimodal</a:t>
            </a:r>
            <a:endParaRPr lang="en-US" sz="1300" dirty="0"/>
          </a:p>
        </p:txBody>
      </p:sp>
      <p:sp>
        <p:nvSpPr>
          <p:cNvPr id="15" name="Text 13"/>
          <p:cNvSpPr/>
          <p:nvPr/>
        </p:nvSpPr>
        <p:spPr>
          <a:xfrm>
            <a:off x="6400800" y="2560320"/>
            <a:ext cx="4572000" cy="114300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 Gemini Vision Models with strict JSON schema enforcement for diagnostic data</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Anti-hallucination verification filters guarding against non-plant inputs</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Gemini Live API real-time bidirectional streaming for spoken conversation</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Minimal-latency inference pipeline responding in natural conversational speech</a:t>
            </a:r>
            <a:endParaRPr lang="en-US" sz="1000" dirty="0"/>
          </a:p>
        </p:txBody>
      </p:sp>
      <p:sp>
        <p:nvSpPr>
          <p:cNvPr id="16" name="Shape 14"/>
          <p:cNvSpPr/>
          <p:nvPr/>
        </p:nvSpPr>
        <p:spPr>
          <a:xfrm>
            <a:off x="731520" y="4023360"/>
            <a:ext cx="5120640" cy="2057400"/>
          </a:xfrm>
          <a:prstGeom prst="roundRect">
            <a:avLst>
              <a:gd name="adj" fmla="val 6667"/>
            </a:avLst>
          </a:prstGeom>
          <a:solidFill>
            <a:srgbClr val="FFFFFF"/>
          </a:solidFill>
          <a:ln w="12700">
            <a:solidFill>
              <a:srgbClr val="E2E8F0"/>
            </a:solidFill>
            <a:prstDash val="solid"/>
          </a:ln>
        </p:spPr>
      </p:sp>
      <p:sp>
        <p:nvSpPr>
          <p:cNvPr id="17" name="Text 15"/>
          <p:cNvSpPr/>
          <p:nvPr/>
        </p:nvSpPr>
        <p:spPr>
          <a:xfrm>
            <a:off x="1005840" y="4206240"/>
            <a:ext cx="4572000" cy="228600"/>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BACKEND SERVICES LAYER</a:t>
            </a:r>
            <a:endParaRPr lang="en-US" sz="900" dirty="0"/>
          </a:p>
        </p:txBody>
      </p:sp>
      <p:sp>
        <p:nvSpPr>
          <p:cNvPr id="18" name="Text 16"/>
          <p:cNvSpPr/>
          <p:nvPr/>
        </p:nvSpPr>
        <p:spPr>
          <a:xfrm>
            <a:off x="1005840" y="4434840"/>
            <a:ext cx="4572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Full-Stack Express + Node.js Environment</a:t>
            </a:r>
            <a:endParaRPr lang="en-US" sz="1300" dirty="0"/>
          </a:p>
        </p:txBody>
      </p:sp>
      <p:sp>
        <p:nvSpPr>
          <p:cNvPr id="19" name="Text 17"/>
          <p:cNvSpPr/>
          <p:nvPr/>
        </p:nvSpPr>
        <p:spPr>
          <a:xfrm>
            <a:off x="1005840" y="4800600"/>
            <a:ext cx="4572000" cy="114300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 Secure server-side API proxy protecting API keys with telemetry headers</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25MB high-resolution camera photo intake with automatic MIME sanitization</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Multi-model automatic fallback architecture ensuring 99.9% uptime resilience</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Zero-database ephemeral architecture ensuring zero user tracking or data leaks</a:t>
            </a:r>
            <a:endParaRPr lang="en-US" sz="1000" dirty="0"/>
          </a:p>
        </p:txBody>
      </p:sp>
      <p:sp>
        <p:nvSpPr>
          <p:cNvPr id="20" name="Shape 18"/>
          <p:cNvSpPr/>
          <p:nvPr/>
        </p:nvSpPr>
        <p:spPr>
          <a:xfrm>
            <a:off x="6126480" y="4023360"/>
            <a:ext cx="5120640" cy="2057400"/>
          </a:xfrm>
          <a:prstGeom prst="roundRect">
            <a:avLst>
              <a:gd name="adj" fmla="val 6667"/>
            </a:avLst>
          </a:prstGeom>
          <a:solidFill>
            <a:srgbClr val="FFFFFF"/>
          </a:solidFill>
          <a:ln w="12700">
            <a:solidFill>
              <a:srgbClr val="E2E8F0"/>
            </a:solidFill>
            <a:prstDash val="solid"/>
          </a:ln>
        </p:spPr>
      </p:sp>
      <p:sp>
        <p:nvSpPr>
          <p:cNvPr id="21" name="Text 19"/>
          <p:cNvSpPr/>
          <p:nvPr/>
        </p:nvSpPr>
        <p:spPr>
          <a:xfrm>
            <a:off x="6400800" y="4206240"/>
            <a:ext cx="4572000" cy="228600"/>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LOCALIZATION &amp; PRIVACY LAYER</a:t>
            </a:r>
            <a:endParaRPr lang="en-US" sz="900" dirty="0"/>
          </a:p>
        </p:txBody>
      </p:sp>
      <p:sp>
        <p:nvSpPr>
          <p:cNvPr id="22" name="Text 20"/>
          <p:cNvSpPr/>
          <p:nvPr/>
        </p:nvSpPr>
        <p:spPr>
          <a:xfrm>
            <a:off x="6400800" y="4434840"/>
            <a:ext cx="45720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Geolocation API &amp; Vernacular Engine</a:t>
            </a:r>
            <a:endParaRPr lang="en-US" sz="1300" dirty="0"/>
          </a:p>
        </p:txBody>
      </p:sp>
      <p:sp>
        <p:nvSpPr>
          <p:cNvPr id="23" name="Text 21"/>
          <p:cNvSpPr/>
          <p:nvPr/>
        </p:nvSpPr>
        <p:spPr>
          <a:xfrm>
            <a:off x="6400800" y="4800600"/>
            <a:ext cx="4572000" cy="1143000"/>
          </a:xfrm>
          <a:prstGeom prst="rect">
            <a:avLst/>
          </a:prstGeom>
          <a:noFill/>
          <a:ln/>
        </p:spPr>
        <p:txBody>
          <a:bodyPr wrap="square" rtlCol="0" anchor="ctr"/>
          <a:lstStyle/>
          <a:p>
            <a:pPr indent="0" marL="0">
              <a:lnSpc>
                <a:spcPts val="1400"/>
              </a:lnSpc>
              <a:buNone/>
            </a:pPr>
            <a:r>
              <a:rPr lang="en-US" sz="1000" dirty="0">
                <a:solidFill>
                  <a:srgbClr val="475569"/>
                </a:solidFill>
                <a:latin typeface="Arial" pitchFamily="34" charset="0"/>
                <a:ea typeface="Arial" pitchFamily="34" charset="-122"/>
                <a:cs typeface="Arial" pitchFamily="34" charset="-120"/>
              </a:rPr>
              <a:t>• Browser Geolocation with OpenStreetMap reverse-geocoding for district context</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Seasonal calendar correlation (Kharif, Rabi, Zaid, Monsoon humidity triggers)</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Multi-language vernacular engine supporting 7 regional Indian languages</a:t>
            </a:r>
            <a:endParaRPr lang="en-US" sz="1000" dirty="0"/>
          </a:p>
          <a:p>
            <a:pPr indent="0" marL="0">
              <a:lnSpc>
                <a:spcPts val="1400"/>
              </a:lnSpc>
              <a:buNone/>
            </a:pPr>
            <a:r>
              <a:rPr lang="en-US" sz="1000" dirty="0">
                <a:solidFill>
                  <a:srgbClr val="475569"/>
                </a:solidFill>
                <a:latin typeface="Arial" pitchFamily="34" charset="0"/>
                <a:ea typeface="Arial" pitchFamily="34" charset="-122"/>
                <a:cs typeface="Arial" pitchFamily="34" charset="-120"/>
              </a:rPr>
              <a:t>• 100% ephemeral session privacy (user location is never stored or tracked)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4E3B"/>
        </a:solidFill>
      </p:bgPr>
    </p:bg>
    <p:spTree>
      <p:nvGrpSpPr>
        <p:cNvPr id="1" name=""/>
        <p:cNvGrpSpPr/>
        <p:nvPr/>
      </p:nvGrpSpPr>
      <p:grpSpPr>
        <a:xfrm>
          <a:off x="0" y="0"/>
          <a:ext cx="0" cy="0"/>
          <a:chOff x="0" y="0"/>
          <a:chExt cx="0" cy="0"/>
        </a:xfrm>
      </p:grpSpPr>
      <p:sp>
        <p:nvSpPr>
          <p:cNvPr id="2" name="Shape 0"/>
          <p:cNvSpPr/>
          <p:nvPr/>
        </p:nvSpPr>
        <p:spPr>
          <a:xfrm>
            <a:off x="731520" y="731520"/>
            <a:ext cx="10698480" cy="5394960"/>
          </a:xfrm>
          <a:prstGeom prst="roundRect">
            <a:avLst>
              <a:gd name="adj" fmla="val 3390"/>
            </a:avLst>
          </a:prstGeom>
          <a:solidFill>
            <a:srgbClr val="0A5C46"/>
          </a:solidFill>
          <a:ln w="12700">
            <a:solidFill>
              <a:srgbClr val="10B981"/>
            </a:solidFill>
            <a:prstDash val="solid"/>
          </a:ln>
        </p:spPr>
      </p:sp>
      <p:sp>
        <p:nvSpPr>
          <p:cNvPr id="3" name="Text 1"/>
          <p:cNvSpPr/>
          <p:nvPr/>
        </p:nvSpPr>
        <p:spPr>
          <a:xfrm>
            <a:off x="1188720" y="1188720"/>
            <a:ext cx="7315200" cy="320040"/>
          </a:xfrm>
          <a:prstGeom prst="rect">
            <a:avLst/>
          </a:prstGeom>
          <a:noFill/>
          <a:ln/>
        </p:spPr>
        <p:txBody>
          <a:bodyPr wrap="square" rtlCol="0" anchor="ctr"/>
          <a:lstStyle/>
          <a:p>
            <a:pPr indent="0" marL="0">
              <a:buNone/>
            </a:pPr>
            <a:r>
              <a:rPr lang="en-US" sz="1100" b="1" spc="200" kern="0" dirty="0">
                <a:solidFill>
                  <a:srgbClr val="6EE7B7"/>
                </a:solidFill>
                <a:latin typeface="Arial" pitchFamily="34" charset="0"/>
                <a:ea typeface="Arial" pitchFamily="34" charset="-122"/>
                <a:cs typeface="Arial" pitchFamily="34" charset="-120"/>
              </a:rPr>
              <a:t>VISION FOR THE FUTURE OF AGRICULTURE</a:t>
            </a:r>
            <a:endParaRPr lang="en-US" sz="1100" dirty="0"/>
          </a:p>
        </p:txBody>
      </p:sp>
      <p:sp>
        <p:nvSpPr>
          <p:cNvPr id="4" name="Text 2"/>
          <p:cNvSpPr/>
          <p:nvPr/>
        </p:nvSpPr>
        <p:spPr>
          <a:xfrm>
            <a:off x="1188720" y="1554480"/>
            <a:ext cx="9601200" cy="9144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Thank You!</a:t>
            </a:r>
            <a:endParaRPr lang="en-US" sz="4600" dirty="0"/>
          </a:p>
        </p:txBody>
      </p:sp>
      <p:sp>
        <p:nvSpPr>
          <p:cNvPr id="5" name="Text 3"/>
          <p:cNvSpPr/>
          <p:nvPr/>
        </p:nvSpPr>
        <p:spPr>
          <a:xfrm>
            <a:off x="1188720" y="2468880"/>
            <a:ext cx="9601200" cy="457200"/>
          </a:xfrm>
          <a:prstGeom prst="rect">
            <a:avLst/>
          </a:prstGeom>
          <a:noFill/>
          <a:ln/>
        </p:spPr>
        <p:txBody>
          <a:bodyPr wrap="square" rtlCol="0" anchor="ctr"/>
          <a:lstStyle/>
          <a:p>
            <a:pPr indent="0" marL="0">
              <a:buNone/>
            </a:pPr>
            <a:r>
              <a:rPr lang="en-US" sz="1800" dirty="0">
                <a:solidFill>
                  <a:srgbClr val="A7F3D0"/>
                </a:solidFill>
                <a:latin typeface="Arial" pitchFamily="34" charset="0"/>
                <a:ea typeface="Arial" pitchFamily="34" charset="-122"/>
                <a:cs typeface="Arial" pitchFamily="34" charset="-120"/>
              </a:rPr>
              <a:t>Together, Protecting the Hands That Feed the World</a:t>
            </a:r>
            <a:endParaRPr lang="en-US" sz="1800" dirty="0"/>
          </a:p>
        </p:txBody>
      </p:sp>
      <p:sp>
        <p:nvSpPr>
          <p:cNvPr id="6" name="Text 4"/>
          <p:cNvSpPr/>
          <p:nvPr/>
        </p:nvSpPr>
        <p:spPr>
          <a:xfrm>
            <a:off x="1188720" y="3017520"/>
            <a:ext cx="9601200" cy="822960"/>
          </a:xfrm>
          <a:prstGeom prst="rect">
            <a:avLst/>
          </a:prstGeom>
          <a:noFill/>
          <a:ln/>
        </p:spPr>
        <p:txBody>
          <a:bodyPr wrap="square" rtlCol="0" anchor="ctr"/>
          <a:lstStyle/>
          <a:p>
            <a:pPr indent="0" marL="0">
              <a:lnSpc>
                <a:spcPts val="1800"/>
              </a:lnSpc>
              <a:buNone/>
            </a:pPr>
            <a:r>
              <a:rPr lang="en-US" sz="1200" dirty="0">
                <a:solidFill>
                  <a:srgbClr val="E2E8F0"/>
                </a:solidFill>
                <a:latin typeface="Arial" pitchFamily="34" charset="0"/>
                <a:ea typeface="Arial" pitchFamily="34" charset="-122"/>
                <a:cs typeface="Arial" pitchFamily="34" charset="-120"/>
              </a:rPr>
              <a:t>KisanDr demonstrates that cutting-edge AI does not need complex enterprise barriers to create transformative human value. By eliminating sign-up friction and speaking the language of the farmer, we can save millions of tonnes of vital food crops each season.</a:t>
            </a:r>
            <a:endParaRPr lang="en-US" sz="1200" dirty="0"/>
          </a:p>
        </p:txBody>
      </p:sp>
      <p:sp>
        <p:nvSpPr>
          <p:cNvPr id="7" name="Shape 5"/>
          <p:cNvSpPr/>
          <p:nvPr/>
        </p:nvSpPr>
        <p:spPr>
          <a:xfrm>
            <a:off x="1188720" y="4023360"/>
            <a:ext cx="4572000" cy="1645920"/>
          </a:xfrm>
          <a:prstGeom prst="rect">
            <a:avLst/>
          </a:prstGeom>
          <a:solidFill>
            <a:srgbClr val="043B2C"/>
          </a:solidFill>
          <a:ln w="12700">
            <a:solidFill>
              <a:srgbClr val="059669"/>
            </a:solidFill>
            <a:prstDash val="solid"/>
          </a:ln>
        </p:spPr>
      </p:sp>
      <p:sp>
        <p:nvSpPr>
          <p:cNvPr id="8" name="Text 6"/>
          <p:cNvSpPr/>
          <p:nvPr/>
        </p:nvSpPr>
        <p:spPr>
          <a:xfrm>
            <a:off x="1371600" y="4160520"/>
            <a:ext cx="4114800" cy="228600"/>
          </a:xfrm>
          <a:prstGeom prst="rect">
            <a:avLst/>
          </a:prstGeom>
          <a:noFill/>
          <a:ln/>
        </p:spPr>
        <p:txBody>
          <a:bodyPr wrap="square" rtlCol="0" anchor="ctr"/>
          <a:lstStyle/>
          <a:p>
            <a:pPr indent="0" marL="0">
              <a:buNone/>
            </a:pPr>
            <a:r>
              <a:rPr lang="en-US" sz="1000" b="1" dirty="0">
                <a:solidFill>
                  <a:srgbClr val="34D399"/>
                </a:solidFill>
                <a:latin typeface="Arial" pitchFamily="34" charset="0"/>
                <a:ea typeface="Arial" pitchFamily="34" charset="-122"/>
                <a:cs typeface="Arial" pitchFamily="34" charset="-120"/>
              </a:rPr>
              <a:t>UPCOMING ROADMAP</a:t>
            </a:r>
            <a:endParaRPr lang="en-US" sz="1000" dirty="0"/>
          </a:p>
        </p:txBody>
      </p:sp>
      <p:sp>
        <p:nvSpPr>
          <p:cNvPr id="9" name="Text 7"/>
          <p:cNvSpPr/>
          <p:nvPr/>
        </p:nvSpPr>
        <p:spPr>
          <a:xfrm>
            <a:off x="1371600" y="4434840"/>
            <a:ext cx="4206240" cy="1097280"/>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 On-device lightweight edge inference for offline fields</a:t>
            </a:r>
            <a:endParaRPr lang="en-US" sz="1000" dirty="0"/>
          </a:p>
          <a:p>
            <a:pPr indent="0" marL="0">
              <a:lnSpc>
                <a:spcPts val="1500"/>
              </a:lnSpc>
              <a:buNone/>
            </a:pPr>
            <a:r>
              <a:rPr lang="en-US" sz="1000" dirty="0">
                <a:solidFill>
                  <a:srgbClr val="E2E8F0"/>
                </a:solidFill>
                <a:latin typeface="Arial" pitchFamily="34" charset="0"/>
                <a:ea typeface="Arial" pitchFamily="34" charset="-122"/>
                <a:cs typeface="Arial" pitchFamily="34" charset="-120"/>
              </a:rPr>
              <a:t>• Live weather radar alerts for fungal spore outbreaks</a:t>
            </a:r>
            <a:endParaRPr lang="en-US" sz="1000" dirty="0"/>
          </a:p>
          <a:p>
            <a:pPr indent="0" marL="0">
              <a:lnSpc>
                <a:spcPts val="1500"/>
              </a:lnSpc>
              <a:buNone/>
            </a:pPr>
            <a:r>
              <a:rPr lang="en-US" sz="1000" dirty="0">
                <a:solidFill>
                  <a:srgbClr val="E2E8F0"/>
                </a:solidFill>
                <a:latin typeface="Arial" pitchFamily="34" charset="0"/>
                <a:ea typeface="Arial" pitchFamily="34" charset="-122"/>
                <a:cs typeface="Arial" pitchFamily="34" charset="-120"/>
              </a:rPr>
              <a:t>• One-touch escalation to local Krishi Vigyan Kendra (KVK)</a:t>
            </a:r>
            <a:endParaRPr lang="en-US" sz="1000" dirty="0"/>
          </a:p>
        </p:txBody>
      </p:sp>
      <p:sp>
        <p:nvSpPr>
          <p:cNvPr id="10" name="Shape 8"/>
          <p:cNvSpPr/>
          <p:nvPr/>
        </p:nvSpPr>
        <p:spPr>
          <a:xfrm>
            <a:off x="6217920" y="4023360"/>
            <a:ext cx="4572000" cy="1645920"/>
          </a:xfrm>
          <a:prstGeom prst="rect">
            <a:avLst/>
          </a:prstGeom>
          <a:solidFill>
            <a:srgbClr val="043B2C"/>
          </a:solidFill>
          <a:ln w="12700">
            <a:solidFill>
              <a:srgbClr val="059669"/>
            </a:solidFill>
            <a:prstDash val="solid"/>
          </a:ln>
        </p:spPr>
      </p:sp>
      <p:sp>
        <p:nvSpPr>
          <p:cNvPr id="11" name="Text 9"/>
          <p:cNvSpPr/>
          <p:nvPr/>
        </p:nvSpPr>
        <p:spPr>
          <a:xfrm>
            <a:off x="6400800" y="4160520"/>
            <a:ext cx="4114800" cy="228600"/>
          </a:xfrm>
          <a:prstGeom prst="rect">
            <a:avLst/>
          </a:prstGeom>
          <a:noFill/>
          <a:ln/>
        </p:spPr>
        <p:txBody>
          <a:bodyPr wrap="square" rtlCol="0" anchor="ctr"/>
          <a:lstStyle/>
          <a:p>
            <a:pPr indent="0" marL="0">
              <a:buNone/>
            </a:pPr>
            <a:r>
              <a:rPr lang="en-US" sz="1000" b="1" dirty="0">
                <a:solidFill>
                  <a:srgbClr val="34D399"/>
                </a:solidFill>
                <a:latin typeface="Arial" pitchFamily="34" charset="0"/>
                <a:ea typeface="Arial" pitchFamily="34" charset="-122"/>
                <a:cs typeface="Arial" pitchFamily="34" charset="-120"/>
              </a:rPr>
              <a:t>CONTACT &amp; DEMO</a:t>
            </a:r>
            <a:endParaRPr lang="en-US" sz="1000" dirty="0"/>
          </a:p>
        </p:txBody>
      </p:sp>
      <p:sp>
        <p:nvSpPr>
          <p:cNvPr id="12" name="Text 10"/>
          <p:cNvSpPr/>
          <p:nvPr/>
        </p:nvSpPr>
        <p:spPr>
          <a:xfrm>
            <a:off x="6400800" y="4434840"/>
            <a:ext cx="4206240" cy="1097280"/>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 Email: arshadbashamomin@gmail.com</a:t>
            </a:r>
            <a:endParaRPr lang="en-US" sz="1000" dirty="0"/>
          </a:p>
          <a:p>
            <a:pPr indent="0" marL="0">
              <a:lnSpc>
                <a:spcPts val="1500"/>
              </a:lnSpc>
              <a:buNone/>
            </a:pPr>
            <a:r>
              <a:rPr lang="en-US" sz="1000" dirty="0">
                <a:solidFill>
                  <a:srgbClr val="E2E8F0"/>
                </a:solidFill>
                <a:latin typeface="Arial" pitchFamily="34" charset="0"/>
                <a:ea typeface="Arial" pitchFamily="34" charset="-122"/>
                <a:cs typeface="Arial" pitchFamily="34" charset="-120"/>
              </a:rPr>
              <a:t>• Live Web App: KisanDr AI Crop Scanner</a:t>
            </a:r>
            <a:endParaRPr lang="en-US" sz="1000" dirty="0"/>
          </a:p>
          <a:p>
            <a:pPr indent="0" marL="0">
              <a:lnSpc>
                <a:spcPts val="1500"/>
              </a:lnSpc>
              <a:buNone/>
            </a:pPr>
            <a:r>
              <a:rPr lang="en-US" sz="1000" dirty="0">
                <a:solidFill>
                  <a:srgbClr val="E2E8F0"/>
                </a:solidFill>
                <a:latin typeface="Arial" pitchFamily="34" charset="0"/>
                <a:ea typeface="Arial" pitchFamily="34" charset="-122"/>
                <a:cs typeface="Arial" pitchFamily="34" charset="-120"/>
              </a:rPr>
              <a:t>• Questions &amp; Answers: We welcome your feedback!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KisanDr - AI AgriTech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KisanDr — AI Crop Disease Scanner &amp; Voice Assistant Pitch Deck</dc:title>
  <dc:subject>Agricultural AI Innovation &amp; Crop Pathology</dc:subject>
  <dc:creator>Arshad Basha Momin &amp; Team</dc:creator>
  <cp:lastModifiedBy>Arshad Basha Momin &amp; Team</cp:lastModifiedBy>
  <cp:revision>1</cp:revision>
  <dcterms:created xsi:type="dcterms:W3CDTF">2026-10-25T13:53:36Z</dcterms:created>
  <dcterms:modified xsi:type="dcterms:W3CDTF">2026-10-25T13:53:36Z</dcterms:modified>
</cp:coreProperties>
</file>